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880"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82" name="Google Shape;82;p1:notes"/>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0: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5: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6: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8: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1"/>
        <p:cNvGrpSpPr/>
        <p:nvPr/>
      </p:nvGrpSpPr>
      <p:grpSpPr>
        <a:xfrm>
          <a:off x="0" y="0"/>
          <a:ext cx="0" cy="0"/>
          <a:chOff x="0" y="0"/>
          <a:chExt cx="0" cy="0"/>
        </a:xfrm>
      </p:grpSpPr>
      <p:sp>
        <p:nvSpPr>
          <p:cNvPr id="32" name="Google Shape;32;p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4"/>
        <p:cNvGrpSpPr/>
        <p:nvPr/>
      </p:nvGrpSpPr>
      <p:grpSpPr>
        <a:xfrm>
          <a:off x="0" y="0"/>
          <a:ext cx="0" cy="0"/>
          <a:chOff x="0" y="0"/>
          <a:chExt cx="0" cy="0"/>
        </a:xfrm>
      </p:grpSpPr>
      <p:sp>
        <p:nvSpPr>
          <p:cNvPr id="35" name="Google Shape;35;p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5"/>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3"/>
        <p:cNvGrpSpPr/>
        <p:nvPr/>
      </p:nvGrpSpPr>
      <p:grpSpPr>
        <a:xfrm>
          <a:off x="0" y="0"/>
          <a:ext cx="0" cy="0"/>
          <a:chOff x="0" y="0"/>
          <a:chExt cx="0" cy="0"/>
        </a:xfrm>
      </p:grpSpPr>
      <p:sp>
        <p:nvSpPr>
          <p:cNvPr id="44" name="Google Shape;44;p7"/>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8"/>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8"/>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9"/>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9"/>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9"/>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0"/>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0"/>
        <p:cNvGrpSpPr/>
        <p:nvPr/>
      </p:nvGrpSpPr>
      <p:grpSpPr>
        <a:xfrm>
          <a:off x="0" y="0"/>
          <a:ext cx="0" cy="0"/>
          <a:chOff x="0" y="0"/>
          <a:chExt cx="0" cy="0"/>
        </a:xfrm>
      </p:grpSpPr>
      <p:sp>
        <p:nvSpPr>
          <p:cNvPr id="61" name="Google Shape;61;p1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1"/>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1"/>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2"/>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2"/>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2"/>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2"/>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0"/>
        <p:cNvGrpSpPr/>
        <p:nvPr/>
      </p:nvGrpSpPr>
      <p:grpSpPr>
        <a:xfrm>
          <a:off x="0" y="0"/>
          <a:ext cx="0" cy="0"/>
          <a:chOff x="0" y="0"/>
          <a:chExt cx="0" cy="0"/>
        </a:xfrm>
      </p:grpSpPr>
      <p:sp>
        <p:nvSpPr>
          <p:cNvPr id="71" name="Google Shape;71;p1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3"/>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3"/>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3"/>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3"/>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1"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pic>
        <p:nvPicPr>
          <p:cNvPr id="13" name="Google Shape;13;p1"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14" name="Google Shape;14;p1"/>
          <p:cNvGrpSpPr/>
          <p:nvPr/>
        </p:nvGrpSpPr>
        <p:grpSpPr>
          <a:xfrm>
            <a:off x="6146640" y="0"/>
            <a:ext cx="2997000" cy="875880"/>
            <a:chOff x="6146640" y="0"/>
            <a:chExt cx="2997000" cy="875880"/>
          </a:xfrm>
        </p:grpSpPr>
        <p:sp>
          <p:nvSpPr>
            <p:cNvPr id="15" name="Google Shape;15;p1"/>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16;p1"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17" name="Google Shape;17;p1"/>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 name="Google Shape;18;p1"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pic>
        <p:nvPicPr>
          <p:cNvPr id="19" name="Google Shape;19;p1"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20" name="Google Shape;20;p1"/>
          <p:cNvGrpSpPr/>
          <p:nvPr/>
        </p:nvGrpSpPr>
        <p:grpSpPr>
          <a:xfrm>
            <a:off x="6146640" y="0"/>
            <a:ext cx="2997000" cy="875880"/>
            <a:chOff x="6146640" y="0"/>
            <a:chExt cx="2997000" cy="875880"/>
          </a:xfrm>
        </p:grpSpPr>
        <p:sp>
          <p:nvSpPr>
            <p:cNvPr id="21" name="Google Shape;21;p1"/>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Google Shape;22;p1"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23" name="Google Shape;23;p1"/>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4" name="Google Shape;24;p1"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sp>
        <p:nvSpPr>
          <p:cNvPr id="25" name="Google Shape;25;p1"/>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1"/>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1"/>
          <p:cNvSpPr txBox="1">
            <a:spLocks noGrp="1"/>
          </p:cNvSpPr>
          <p:nvPr>
            <p:ph type="dt" idx="10"/>
          </p:nvPr>
        </p:nvSpPr>
        <p:spPr>
          <a:xfrm>
            <a:off x="457200" y="6356520"/>
            <a:ext cx="213336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 name="Google Shape;28;p1"/>
          <p:cNvSpPr txBox="1">
            <a:spLocks noGrp="1"/>
          </p:cNvSpPr>
          <p:nvPr>
            <p:ph type="ftr" idx="11"/>
          </p:nvPr>
        </p:nvSpPr>
        <p:spPr>
          <a:xfrm>
            <a:off x="3124080" y="6356520"/>
            <a:ext cx="289512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1"/>
          <p:cNvSpPr txBox="1">
            <a:spLocks noGrp="1"/>
          </p:cNvSpPr>
          <p:nvPr>
            <p:ph type="sldNum" idx="12"/>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4"/>
          <p:cNvSpPr txBox="1"/>
          <p:nvPr/>
        </p:nvSpPr>
        <p:spPr>
          <a:xfrm>
            <a:off x="0" y="840625"/>
            <a:ext cx="9144000" cy="5868000"/>
          </a:xfrm>
          <a:prstGeom prst="rect">
            <a:avLst/>
          </a:prstGeom>
          <a:noFill/>
          <a:ln>
            <a:noFill/>
          </a:ln>
        </p:spPr>
        <p:txBody>
          <a:bodyPr spcFirstLastPara="1" wrap="square" lIns="91425" tIns="45700" rIns="91425" bIns="45700" anchor="t" anchorCtr="0">
            <a:noAutofit/>
          </a:bodyPr>
          <a:lstStyle/>
          <a:p>
            <a:pPr lvl="0">
              <a:spcBef>
                <a:spcPts val="400"/>
              </a:spcBef>
            </a:pPr>
            <a:r>
              <a:rPr lang="en-US" sz="200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Comparative </a:t>
            </a:r>
            <a:r>
              <a:rPr lang="en-US" sz="2400" dirty="0">
                <a:latin typeface="Times New Roman" panose="02020603050405020304" pitchFamily="18" charset="0"/>
                <a:cs typeface="Times New Roman" panose="02020603050405020304" pitchFamily="18" charset="0"/>
              </a:rPr>
              <a:t>Analysis of Machine Learning Algorithms </a:t>
            </a:r>
            <a:r>
              <a:rPr lang="en-US" sz="2400" dirty="0" smtClean="0">
                <a:latin typeface="Times New Roman" panose="02020603050405020304" pitchFamily="18" charset="0"/>
                <a:cs typeface="Times New Roman" panose="02020603050405020304" pitchFamily="18" charset="0"/>
              </a:rPr>
              <a:t>for</a:t>
            </a:r>
          </a:p>
          <a:p>
            <a:pPr lvl="0">
              <a:spcBef>
                <a:spcPts val="400"/>
              </a:spcBef>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Heart Disease Prediction </a:t>
            </a:r>
            <a:endParaRPr lang="en-US" sz="2400" b="0" i="0" u="none" strike="noStrike" cap="none" dirty="0" smtClean="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400"/>
              </a:spcBef>
              <a:spcAft>
                <a:spcPts val="0"/>
              </a:spcAft>
              <a:buNone/>
            </a:pPr>
            <a:endParaRPr lang="en-US" sz="3200" dirty="0">
              <a:latin typeface="Times New Roman"/>
              <a:ea typeface="Times New Roman"/>
              <a:cs typeface="Times New Roman"/>
              <a:sym typeface="Times New Roman"/>
            </a:endParaRPr>
          </a:p>
          <a:p>
            <a:pPr marL="0" marR="0" lvl="0" indent="0" algn="ctr" rtl="0">
              <a:spcBef>
                <a:spcPts val="400"/>
              </a:spcBef>
              <a:spcAft>
                <a:spcPts val="0"/>
              </a:spcAft>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endParaRPr lang="en-US" sz="1800" dirty="0" smtClean="0">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1800" dirty="0" smtClean="0">
                <a:latin typeface="Times New Roman"/>
                <a:ea typeface="Times New Roman"/>
                <a:cs typeface="Times New Roman"/>
                <a:sym typeface="Times New Roman"/>
              </a:rPr>
              <a:t>Anirudh Pal Kaushik(2210991268)</a:t>
            </a:r>
          </a:p>
          <a:p>
            <a:pPr marL="0" marR="0" lvl="0" indent="0" algn="ctr" rtl="0">
              <a:lnSpc>
                <a:spcPct val="100000"/>
              </a:lnSpc>
              <a:spcBef>
                <a:spcPts val="400"/>
              </a:spcBef>
              <a:spcAft>
                <a:spcPts val="0"/>
              </a:spcAft>
              <a:buNone/>
            </a:pPr>
            <a:endParaRPr lang="en-US" sz="2400" dirty="0" smtClean="0">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endParaRPr sz="2400" dirty="0">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Supervised By</a:t>
            </a:r>
            <a:endParaRPr dirty="0"/>
          </a:p>
          <a:p>
            <a:pPr lvl="0" algn="ctr">
              <a:spcBef>
                <a:spcPts val="400"/>
              </a:spcBef>
            </a:pPr>
            <a:r>
              <a:rPr lang="en-US" sz="2000" b="0" i="0" u="none" strike="noStrike" cap="none" dirty="0" err="1" smtClean="0">
                <a:solidFill>
                  <a:srgbClr val="000000"/>
                </a:solidFill>
                <a:latin typeface="Times New Roman"/>
                <a:ea typeface="Times New Roman"/>
                <a:cs typeface="Times New Roman"/>
                <a:sym typeface="Times New Roman"/>
              </a:rPr>
              <a:t>Dr</a:t>
            </a:r>
            <a:r>
              <a:rPr lang="en-US" dirty="0"/>
              <a:t> </a:t>
            </a:r>
            <a:r>
              <a:rPr lang="en-US" sz="2000" dirty="0" err="1">
                <a:latin typeface="Times New Roman" panose="02020603050405020304" pitchFamily="18" charset="0"/>
                <a:cs typeface="Times New Roman" panose="02020603050405020304" pitchFamily="18" charset="0"/>
              </a:rPr>
              <a:t>Gurpreet</a:t>
            </a:r>
            <a:r>
              <a:rPr lang="en-US" sz="2000" dirty="0">
                <a:latin typeface="Times New Roman" panose="02020603050405020304" pitchFamily="18" charset="0"/>
                <a:cs typeface="Times New Roman" panose="02020603050405020304" pitchFamily="18" charset="0"/>
              </a:rPr>
              <a:t> Singh</a:t>
            </a:r>
            <a:endParaRPr sz="2000" b="0" i="0" u="none" strike="noStrike" cap="none" dirty="0" smtClean="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400"/>
              </a:spcBef>
              <a:spcAft>
                <a:spcPts val="0"/>
              </a:spcAft>
              <a:buNone/>
            </a:pPr>
            <a:r>
              <a:rPr lang="en-US" sz="2400" b="0" i="0" u="none" strike="noStrike" cap="none" dirty="0" smtClean="0">
                <a:solidFill>
                  <a:schemeClr val="dk1"/>
                </a:solidFill>
                <a:latin typeface="Times New Roman"/>
                <a:ea typeface="Times New Roman"/>
                <a:cs typeface="Times New Roman"/>
                <a:sym typeface="Times New Roman"/>
              </a:rPr>
              <a:t>Department of Computer Science and Engineering, </a:t>
            </a:r>
            <a:endParaRPr dirty="0" smtClean="0"/>
          </a:p>
          <a:p>
            <a:pPr marL="0" marR="0" lvl="0" indent="0" algn="ctr" rtl="0">
              <a:lnSpc>
                <a:spcPct val="100000"/>
              </a:lnSpc>
              <a:spcBef>
                <a:spcPts val="400"/>
              </a:spcBef>
              <a:spcAft>
                <a:spcPts val="0"/>
              </a:spcAft>
              <a:buNone/>
            </a:pPr>
            <a:r>
              <a:rPr lang="en-US" sz="2400" b="0" i="0" u="none" strike="noStrike" cap="none" dirty="0" err="1" smtClean="0">
                <a:solidFill>
                  <a:schemeClr val="dk1"/>
                </a:solidFill>
                <a:latin typeface="Times New Roman"/>
                <a:ea typeface="Times New Roman"/>
                <a:cs typeface="Times New Roman"/>
                <a:sym typeface="Times New Roman"/>
              </a:rPr>
              <a:t>Chitkara</a:t>
            </a:r>
            <a:r>
              <a:rPr lang="en-US" sz="2400" b="0" i="0" u="none" strike="noStrike" cap="none" dirty="0" smtClean="0">
                <a:solidFill>
                  <a:schemeClr val="dk1"/>
                </a:solidFill>
                <a:latin typeface="Times New Roman"/>
                <a:ea typeface="Times New Roman"/>
                <a:cs typeface="Times New Roman"/>
                <a:sym typeface="Times New Roman"/>
              </a:rPr>
              <a:t> </a:t>
            </a:r>
            <a:r>
              <a:rPr lang="en-US" sz="2400" b="0" i="0" u="none" strike="noStrike" cap="none" dirty="0">
                <a:solidFill>
                  <a:schemeClr val="dk1"/>
                </a:solidFill>
                <a:latin typeface="Times New Roman"/>
                <a:ea typeface="Times New Roman"/>
                <a:cs typeface="Times New Roman"/>
                <a:sym typeface="Times New Roman"/>
              </a:rPr>
              <a:t>University, Punjab</a:t>
            </a:r>
            <a:endParaRPr dirty="0"/>
          </a:p>
          <a:p>
            <a:pPr marL="0" marR="0" lvl="0" indent="0" algn="ctr" rtl="0">
              <a:lnSpc>
                <a:spcPct val="150000"/>
              </a:lnSpc>
              <a:spcBef>
                <a:spcPts val="400"/>
              </a:spcBef>
              <a:spcAft>
                <a:spcPts val="0"/>
              </a:spcAft>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None/>
            </a:pPr>
            <a:endParaRPr sz="20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txBox="1"/>
          <p:nvPr/>
        </p:nvSpPr>
        <p:spPr>
          <a:xfrm>
            <a:off x="-777711" y="0"/>
            <a:ext cx="6019015" cy="909687"/>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600" b="1" i="0" u="none" strike="noStrike" cap="none">
                <a:solidFill>
                  <a:srgbClr val="000000"/>
                </a:solidFill>
                <a:latin typeface="Times New Roman"/>
                <a:ea typeface="Times New Roman"/>
                <a:cs typeface="Times New Roman"/>
                <a:sym typeface="Times New Roman"/>
              </a:rPr>
              <a:t>Table of Contents  </a:t>
            </a:r>
            <a:endParaRPr sz="3600" b="1" i="0" u="none" strike="noStrike" cap="none">
              <a:solidFill>
                <a:srgbClr val="000000"/>
              </a:solidFill>
              <a:latin typeface="Times New Roman"/>
              <a:ea typeface="Times New Roman"/>
              <a:cs typeface="Times New Roman"/>
              <a:sym typeface="Times New Roman"/>
            </a:endParaRPr>
          </a:p>
        </p:txBody>
      </p:sp>
      <p:sp>
        <p:nvSpPr>
          <p:cNvPr id="90" name="Google Shape;90;p15"/>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2</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15"/>
          <p:cNvSpPr txBox="1"/>
          <p:nvPr/>
        </p:nvSpPr>
        <p:spPr>
          <a:xfrm>
            <a:off x="239438" y="1144987"/>
            <a:ext cx="7953586" cy="5431057"/>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a:solidFill>
                  <a:schemeClr val="dk1"/>
                </a:solidFill>
                <a:latin typeface="Times New Roman"/>
                <a:ea typeface="Times New Roman"/>
                <a:cs typeface="Times New Roman"/>
                <a:sym typeface="Times New Roman"/>
              </a:rPr>
              <a:t>Abstract</a:t>
            </a:r>
            <a:endParaRPr sz="1600" dirty="0"/>
          </a:p>
          <a:p>
            <a:pPr marL="0" marR="0" lvl="0" indent="0" algn="just" rtl="0">
              <a:spcBef>
                <a:spcPts val="0"/>
              </a:spcBef>
              <a:spcAft>
                <a:spcPts val="0"/>
              </a:spcAft>
              <a:buNone/>
            </a:pPr>
            <a:r>
              <a:rPr lang="en-US" sz="1600" dirty="0">
                <a:solidFill>
                  <a:schemeClr val="dk1"/>
                </a:solidFill>
                <a:latin typeface="Times New Roman"/>
                <a:ea typeface="Times New Roman"/>
                <a:cs typeface="Times New Roman"/>
                <a:sym typeface="Times New Roman"/>
              </a:rPr>
              <a:t>• Problem Statement</a:t>
            </a:r>
            <a:endParaRPr sz="1600" dirty="0"/>
          </a:p>
          <a:p>
            <a:pPr marL="0" marR="0" lvl="0" indent="0" algn="just" rtl="0">
              <a:spcBef>
                <a:spcPts val="0"/>
              </a:spcBef>
              <a:spcAft>
                <a:spcPts val="0"/>
              </a:spcAft>
              <a:buNone/>
            </a:pPr>
            <a:r>
              <a:rPr lang="en-US" sz="1600" dirty="0">
                <a:solidFill>
                  <a:schemeClr val="dk1"/>
                </a:solidFill>
                <a:latin typeface="Times New Roman"/>
                <a:ea typeface="Times New Roman"/>
                <a:cs typeface="Times New Roman"/>
                <a:sym typeface="Times New Roman"/>
              </a:rPr>
              <a:t>• Key Features</a:t>
            </a:r>
            <a:endParaRPr sz="1600" dirty="0"/>
          </a:p>
          <a:p>
            <a:pPr marL="0" marR="0" lvl="0" indent="0" algn="just" rtl="0">
              <a:spcBef>
                <a:spcPts val="0"/>
              </a:spcBef>
              <a:spcAft>
                <a:spcPts val="0"/>
              </a:spcAft>
              <a:buNone/>
            </a:pPr>
            <a:r>
              <a:rPr lang="en-US" sz="1600" dirty="0">
                <a:solidFill>
                  <a:schemeClr val="dk1"/>
                </a:solidFill>
                <a:latin typeface="Times New Roman"/>
                <a:ea typeface="Times New Roman"/>
                <a:cs typeface="Times New Roman"/>
                <a:sym typeface="Times New Roman"/>
              </a:rPr>
              <a:t>• Technical details</a:t>
            </a:r>
            <a:endParaRPr sz="1600" dirty="0"/>
          </a:p>
          <a:p>
            <a:pPr marL="0" marR="0" lvl="0" indent="0" algn="just" rtl="0">
              <a:spcBef>
                <a:spcPts val="0"/>
              </a:spcBef>
              <a:spcAft>
                <a:spcPts val="0"/>
              </a:spcAft>
              <a:buNone/>
            </a:pPr>
            <a:r>
              <a:rPr lang="en-US" sz="1600" dirty="0">
                <a:solidFill>
                  <a:schemeClr val="dk1"/>
                </a:solidFill>
                <a:latin typeface="Times New Roman"/>
                <a:ea typeface="Times New Roman"/>
                <a:cs typeface="Times New Roman"/>
                <a:sym typeface="Times New Roman"/>
              </a:rPr>
              <a:t>• Literature Review</a:t>
            </a:r>
            <a:endParaRPr sz="1600" dirty="0"/>
          </a:p>
          <a:p>
            <a:pPr marL="0" marR="0" lvl="0" indent="0" algn="just" rtl="0">
              <a:spcBef>
                <a:spcPts val="0"/>
              </a:spcBef>
              <a:spcAft>
                <a:spcPts val="0"/>
              </a:spcAft>
              <a:buNone/>
            </a:pPr>
            <a:r>
              <a:rPr lang="en-US" sz="1600" dirty="0">
                <a:solidFill>
                  <a:schemeClr val="dk1"/>
                </a:solidFill>
                <a:latin typeface="Times New Roman"/>
                <a:ea typeface="Times New Roman"/>
                <a:cs typeface="Times New Roman"/>
                <a:sym typeface="Times New Roman"/>
              </a:rPr>
              <a:t>• Implementation</a:t>
            </a:r>
            <a:endParaRPr sz="16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600" dirty="0">
                <a:solidFill>
                  <a:schemeClr val="dk1"/>
                </a:solidFill>
                <a:latin typeface="Times New Roman"/>
                <a:ea typeface="Times New Roman"/>
                <a:cs typeface="Times New Roman"/>
                <a:sym typeface="Times New Roman"/>
              </a:rPr>
              <a:t>• Results/Outputs</a:t>
            </a:r>
            <a:endParaRPr sz="1600" dirty="0"/>
          </a:p>
          <a:p>
            <a:pPr marL="0" marR="0" lvl="0" indent="0" algn="just" rtl="0">
              <a:spcBef>
                <a:spcPts val="0"/>
              </a:spcBef>
              <a:spcAft>
                <a:spcPts val="0"/>
              </a:spcAft>
              <a:buNone/>
            </a:pPr>
            <a:r>
              <a:rPr lang="en-US" sz="1600" dirty="0">
                <a:solidFill>
                  <a:schemeClr val="dk1"/>
                </a:solidFill>
                <a:latin typeface="Times New Roman"/>
                <a:ea typeface="Times New Roman"/>
                <a:cs typeface="Times New Roman"/>
                <a:sym typeface="Times New Roman"/>
              </a:rPr>
              <a:t>• Future Scope</a:t>
            </a:r>
            <a:endParaRPr sz="1600" dirty="0"/>
          </a:p>
          <a:p>
            <a:pPr marL="0" marR="0" lvl="0" indent="0" algn="just" rtl="0">
              <a:spcBef>
                <a:spcPts val="0"/>
              </a:spcBef>
              <a:spcAft>
                <a:spcPts val="0"/>
              </a:spcAft>
              <a:buNone/>
            </a:pPr>
            <a:endParaRPr sz="36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36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36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3600" dirty="0">
              <a:solidFill>
                <a:schemeClr val="dk1"/>
              </a:solidFill>
              <a:latin typeface="Times New Roman"/>
              <a:ea typeface="Times New Roman"/>
              <a:cs typeface="Times New Roman"/>
              <a:sym typeface="Times New Roman"/>
            </a:endParaRPr>
          </a:p>
          <a:p>
            <a:pPr marL="571500" marR="0" lvl="0" indent="-342900" algn="just" rtl="0">
              <a:spcBef>
                <a:spcPts val="0"/>
              </a:spcBef>
              <a:spcAft>
                <a:spcPts val="0"/>
              </a:spcAft>
              <a:buClr>
                <a:schemeClr val="dk1"/>
              </a:buClr>
              <a:buSzPts val="3600"/>
              <a:buFont typeface="Arial"/>
              <a:buNone/>
            </a:pPr>
            <a:endParaRPr sz="36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txBox="1"/>
          <p:nvPr/>
        </p:nvSpPr>
        <p:spPr>
          <a:xfrm>
            <a:off x="-2040903" y="0"/>
            <a:ext cx="6019015" cy="909687"/>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b="1" strike="noStrike">
                <a:solidFill>
                  <a:srgbClr val="000000"/>
                </a:solidFill>
                <a:latin typeface="Times New Roman"/>
                <a:ea typeface="Times New Roman"/>
                <a:cs typeface="Times New Roman"/>
                <a:sym typeface="Times New Roman"/>
              </a:rPr>
              <a:t>Abstract </a:t>
            </a:r>
            <a:endParaRPr sz="3200" b="1" strike="noStrike">
              <a:solidFill>
                <a:srgbClr val="000000"/>
              </a:solidFill>
              <a:latin typeface="Times New Roman"/>
              <a:ea typeface="Times New Roman"/>
              <a:cs typeface="Times New Roman"/>
              <a:sym typeface="Times New Roman"/>
            </a:endParaRPr>
          </a:p>
        </p:txBody>
      </p:sp>
      <p:sp>
        <p:nvSpPr>
          <p:cNvPr id="97" name="Google Shape;97;p16"/>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strike="noStrike">
                <a:solidFill>
                  <a:srgbClr val="000000"/>
                </a:solidFill>
                <a:latin typeface="Calibri"/>
                <a:ea typeface="Calibri"/>
                <a:cs typeface="Calibri"/>
                <a:sym typeface="Calibri"/>
              </a:rPr>
              <a:t>3</a:t>
            </a:fld>
            <a:endParaRPr sz="1200" b="0" strike="noStrike">
              <a:solidFill>
                <a:schemeClr val="dk1"/>
              </a:solidFill>
              <a:latin typeface="Times New Roman"/>
              <a:ea typeface="Times New Roman"/>
              <a:cs typeface="Times New Roman"/>
              <a:sym typeface="Times New Roman"/>
            </a:endParaRPr>
          </a:p>
        </p:txBody>
      </p:sp>
      <p:sp>
        <p:nvSpPr>
          <p:cNvPr id="98" name="Google Shape;98;p16"/>
          <p:cNvSpPr/>
          <p:nvPr/>
        </p:nvSpPr>
        <p:spPr>
          <a:xfrm flipH="1">
            <a:off x="333657" y="1037236"/>
            <a:ext cx="8524394" cy="2890708"/>
          </a:xfrm>
          <a:prstGeom prst="rect">
            <a:avLst/>
          </a:prstGeom>
          <a:noFill/>
          <a:ln>
            <a:noFill/>
          </a:ln>
        </p:spPr>
        <p:txBody>
          <a:bodyPr spcFirstLastPara="1" wrap="square" lIns="91425" tIns="45700" rIns="91425" bIns="45700" anchor="ctr" anchorCtr="0">
            <a:noAutofit/>
          </a:bodyPr>
          <a:lstStyle/>
          <a:p>
            <a:pPr lvl="0" indent="-152400" algn="just">
              <a:buClr>
                <a:schemeClr val="dk1"/>
              </a:buClr>
              <a:buSzPts val="2400"/>
              <a:buFont typeface="Times New Roman"/>
              <a:buChar char="•"/>
            </a:pPr>
            <a:r>
              <a:rPr lang="en-US" dirty="0">
                <a:solidFill>
                  <a:schemeClr val="dk1"/>
                </a:solidFill>
                <a:latin typeface="Times New Roman"/>
                <a:ea typeface="Times New Roman"/>
                <a:cs typeface="Times New Roman"/>
                <a:sym typeface="Times New Roman"/>
              </a:rPr>
              <a:t>Heart disease is one of the leading causes of death worldwide, and early prediction of this disease is of prime importance to improve healthcare services and reduce mortality rates. This paper proposes a system to predict heart disease using various machine learning algorithms. A healthcare dataset is considered to predict heart disease using classification algorithms such as Logistic Regression, K-Nearest Neighbors (KNN), and Random Forest.</a:t>
            </a:r>
          </a:p>
          <a:p>
            <a:pPr lvl="0" indent="-152400" algn="just">
              <a:buClr>
                <a:schemeClr val="dk1"/>
              </a:buClr>
              <a:buSzPts val="2400"/>
              <a:buFont typeface="Times New Roman"/>
              <a:buChar char="•"/>
            </a:pPr>
            <a:endParaRPr lang="en-US" dirty="0">
              <a:solidFill>
                <a:schemeClr val="dk1"/>
              </a:solidFill>
              <a:latin typeface="Times New Roman"/>
              <a:ea typeface="Times New Roman"/>
              <a:cs typeface="Times New Roman"/>
              <a:sym typeface="Times New Roman"/>
            </a:endParaRPr>
          </a:p>
          <a:p>
            <a:pPr lvl="0" indent="-152400" algn="just">
              <a:buClr>
                <a:schemeClr val="dk1"/>
              </a:buClr>
              <a:buSzPts val="2400"/>
              <a:buFont typeface="Times New Roman"/>
              <a:buChar char="•"/>
            </a:pPr>
            <a:r>
              <a:rPr lang="en-US" dirty="0">
                <a:solidFill>
                  <a:schemeClr val="dk1"/>
                </a:solidFill>
                <a:latin typeface="Times New Roman"/>
                <a:ea typeface="Times New Roman"/>
                <a:cs typeface="Times New Roman"/>
                <a:sym typeface="Times New Roman"/>
              </a:rPr>
              <a:t>The models are tested based on accuracy, precision, and recall, and Logistic Regression is found to have a high accuracy of 95%, making it a better model compared to others. This proposed system is helpful in taking quick and accurate decisions to reduce heart disease and improve healthcare </a:t>
            </a:r>
            <a:r>
              <a:rPr lang="en-US" dirty="0" smtClean="0">
                <a:solidFill>
                  <a:schemeClr val="dk1"/>
                </a:solidFill>
                <a:latin typeface="Times New Roman"/>
                <a:ea typeface="Times New Roman"/>
                <a:cs typeface="Times New Roman"/>
                <a:sym typeface="Times New Roman"/>
              </a:rPr>
              <a:t>services.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7"/>
          <p:cNvSpPr txBox="1"/>
          <p:nvPr/>
        </p:nvSpPr>
        <p:spPr>
          <a:xfrm>
            <a:off x="-1085845" y="7951"/>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b="1" strike="noStrike">
                <a:solidFill>
                  <a:srgbClr val="000000"/>
                </a:solidFill>
                <a:latin typeface="Times New Roman"/>
                <a:ea typeface="Times New Roman"/>
                <a:cs typeface="Times New Roman"/>
                <a:sym typeface="Times New Roman"/>
              </a:rPr>
              <a:t>Problem Statement </a:t>
            </a:r>
            <a:endParaRPr sz="3200" b="1" strike="noStrike">
              <a:solidFill>
                <a:srgbClr val="000000"/>
              </a:solidFill>
              <a:latin typeface="Times New Roman"/>
              <a:ea typeface="Times New Roman"/>
              <a:cs typeface="Times New Roman"/>
              <a:sym typeface="Times New Roman"/>
            </a:endParaRPr>
          </a:p>
        </p:txBody>
      </p:sp>
      <p:sp>
        <p:nvSpPr>
          <p:cNvPr id="104" name="Google Shape;104;p17"/>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strike="noStrike">
                <a:solidFill>
                  <a:srgbClr val="000000"/>
                </a:solidFill>
                <a:latin typeface="Calibri"/>
                <a:ea typeface="Calibri"/>
                <a:cs typeface="Calibri"/>
                <a:sym typeface="Calibri"/>
              </a:rPr>
              <a:t>4</a:t>
            </a:fld>
            <a:endParaRPr sz="1200" b="0" strike="noStrike">
              <a:solidFill>
                <a:schemeClr val="dk1"/>
              </a:solidFill>
              <a:latin typeface="Times New Roman"/>
              <a:ea typeface="Times New Roman"/>
              <a:cs typeface="Times New Roman"/>
              <a:sym typeface="Times New Roman"/>
            </a:endParaRPr>
          </a:p>
        </p:txBody>
      </p:sp>
      <p:sp>
        <p:nvSpPr>
          <p:cNvPr id="105" name="Google Shape;105;p17"/>
          <p:cNvSpPr/>
          <p:nvPr/>
        </p:nvSpPr>
        <p:spPr>
          <a:xfrm flipH="1">
            <a:off x="321668" y="-79511"/>
            <a:ext cx="8364772" cy="4627658"/>
          </a:xfrm>
          <a:prstGeom prst="rect">
            <a:avLst/>
          </a:prstGeom>
          <a:noFill/>
          <a:ln>
            <a:noFill/>
          </a:ln>
        </p:spPr>
        <p:txBody>
          <a:bodyPr spcFirstLastPara="1" wrap="square" lIns="91425" tIns="45700" rIns="91425" bIns="45700" anchor="ctr" anchorCtr="0">
            <a:noAutofit/>
          </a:bodyPr>
          <a:lstStyle/>
          <a:p>
            <a:pPr lvl="0" indent="-152400" algn="just">
              <a:buClr>
                <a:schemeClr val="dk1"/>
              </a:buClr>
              <a:buSzPts val="2400"/>
              <a:buFont typeface="Times New Roman"/>
              <a:buChar char="•"/>
            </a:pPr>
            <a:r>
              <a:rPr lang="en-US" dirty="0">
                <a:solidFill>
                  <a:schemeClr val="dk1"/>
                </a:solidFill>
                <a:latin typeface="Times New Roman"/>
                <a:ea typeface="Times New Roman"/>
                <a:cs typeface="Times New Roman"/>
                <a:sym typeface="Times New Roman"/>
              </a:rPr>
              <a:t>It is one of the major causes of death worldwide. Early detection of heart disease is a complex issue since it depends on various health parameters. Detection of heart disease has been done traditionally based on the expertise of a medical professional. However, such an approach may not always yield highly accurate results, particularly when dealing with complex data sets.</a:t>
            </a:r>
          </a:p>
          <a:p>
            <a:pPr lvl="0" indent="-152400" algn="just">
              <a:buClr>
                <a:schemeClr val="dk1"/>
              </a:buClr>
              <a:buSzPts val="2400"/>
              <a:buFont typeface="Times New Roman"/>
              <a:buChar char="•"/>
            </a:pPr>
            <a:endParaRPr lang="en-US" dirty="0">
              <a:solidFill>
                <a:schemeClr val="dk1"/>
              </a:solidFill>
              <a:latin typeface="Times New Roman"/>
              <a:ea typeface="Times New Roman"/>
              <a:cs typeface="Times New Roman"/>
              <a:sym typeface="Times New Roman"/>
            </a:endParaRPr>
          </a:p>
          <a:p>
            <a:pPr lvl="0" indent="-152400" algn="just">
              <a:buClr>
                <a:schemeClr val="dk1"/>
              </a:buClr>
              <a:buSzPts val="2400"/>
              <a:buFont typeface="Times New Roman"/>
              <a:buChar char="•"/>
            </a:pPr>
            <a:r>
              <a:rPr lang="en-US" dirty="0">
                <a:solidFill>
                  <a:schemeClr val="dk1"/>
                </a:solidFill>
                <a:latin typeface="Times New Roman"/>
                <a:ea typeface="Times New Roman"/>
                <a:cs typeface="Times New Roman"/>
                <a:sym typeface="Times New Roman"/>
              </a:rPr>
              <a:t>The problem statement here is to design an efficient machine learning-based system to predict whether a person suffers from heart disease or not based on given data. This problem statement also includes comparing algorithms to achieve a more accurate model based on performance metrics. This helps in improving the accuracy of predictions, which in turn helps in reducing mortality rates</a:t>
            </a:r>
            <a:r>
              <a:rPr lang="en-US" sz="1600" dirty="0">
                <a:solidFill>
                  <a:schemeClr val="dk1"/>
                </a:solidFill>
                <a:latin typeface="Times New Roman"/>
                <a:ea typeface="Times New Roman"/>
                <a:cs typeface="Times New Roman"/>
                <a:sym typeface="Times New Roman"/>
              </a:rPr>
              <a:t>.</a:t>
            </a:r>
            <a:endParaRPr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p:nvPr/>
        </p:nvSpPr>
        <p:spPr>
          <a:xfrm>
            <a:off x="0" y="6704640"/>
            <a:ext cx="9144000" cy="197971"/>
          </a:xfrm>
          <a:custGeom>
            <a:avLst/>
            <a:gdLst/>
            <a:ahLst/>
            <a:cxnLst/>
            <a:rect l="l" t="t" r="r" b="b"/>
            <a:pathLst>
              <a:path w="13004800" h="281559" extrusionOk="0">
                <a:moveTo>
                  <a:pt x="0" y="0"/>
                </a:moveTo>
                <a:lnTo>
                  <a:pt x="13004800" y="0"/>
                </a:lnTo>
                <a:lnTo>
                  <a:pt x="13004800" y="281559"/>
                </a:lnTo>
                <a:lnTo>
                  <a:pt x="0" y="281559"/>
                </a:lnTo>
                <a:lnTo>
                  <a:pt x="0" y="0"/>
                </a:lnTo>
                <a:close/>
              </a:path>
            </a:pathLst>
          </a:custGeom>
          <a:solidFill>
            <a:srgbClr val="FF0000"/>
          </a:solidFill>
          <a:ln>
            <a:noFill/>
          </a:ln>
        </p:spPr>
      </p:sp>
      <p:sp>
        <p:nvSpPr>
          <p:cNvPr id="111" name="Google Shape;111;p18"/>
          <p:cNvSpPr/>
          <p:nvPr/>
        </p:nvSpPr>
        <p:spPr>
          <a:xfrm>
            <a:off x="6553080" y="228600"/>
            <a:ext cx="2057040" cy="634680"/>
          </a:xfrm>
          <a:custGeom>
            <a:avLst/>
            <a:gdLst/>
            <a:ahLst/>
            <a:cxnLst/>
            <a:rect l="l" t="t" r="r" b="b"/>
            <a:pathLst>
              <a:path w="2194176" h="676992" extrusionOk="0">
                <a:moveTo>
                  <a:pt x="0" y="0"/>
                </a:moveTo>
                <a:lnTo>
                  <a:pt x="2194176" y="0"/>
                </a:lnTo>
                <a:lnTo>
                  <a:pt x="2194176" y="676992"/>
                </a:lnTo>
                <a:lnTo>
                  <a:pt x="0" y="676992"/>
                </a:lnTo>
                <a:lnTo>
                  <a:pt x="0" y="0"/>
                </a:lnTo>
                <a:close/>
              </a:path>
            </a:pathLst>
          </a:custGeom>
          <a:blipFill rotWithShape="1">
            <a:blip r:embed="rId3">
              <a:alphaModFix/>
            </a:blip>
            <a:stretch>
              <a:fillRect t="-6024" b="-6024"/>
            </a:stretch>
          </a:blipFill>
          <a:ln>
            <a:noFill/>
          </a:ln>
        </p:spPr>
      </p:sp>
      <p:sp>
        <p:nvSpPr>
          <p:cNvPr id="112" name="Google Shape;112;p18"/>
          <p:cNvSpPr/>
          <p:nvPr/>
        </p:nvSpPr>
        <p:spPr>
          <a:xfrm>
            <a:off x="6553080" y="228600"/>
            <a:ext cx="2057040" cy="634680"/>
          </a:xfrm>
          <a:custGeom>
            <a:avLst/>
            <a:gdLst/>
            <a:ahLst/>
            <a:cxnLst/>
            <a:rect l="l" t="t" r="r" b="b"/>
            <a:pathLst>
              <a:path w="2194176" h="676992" extrusionOk="0">
                <a:moveTo>
                  <a:pt x="0" y="0"/>
                </a:moveTo>
                <a:lnTo>
                  <a:pt x="2194176" y="0"/>
                </a:lnTo>
                <a:lnTo>
                  <a:pt x="2194176" y="676992"/>
                </a:lnTo>
                <a:lnTo>
                  <a:pt x="0" y="676992"/>
                </a:lnTo>
                <a:lnTo>
                  <a:pt x="0" y="0"/>
                </a:lnTo>
                <a:close/>
              </a:path>
            </a:pathLst>
          </a:custGeom>
          <a:blipFill rotWithShape="1">
            <a:blip r:embed="rId3">
              <a:alphaModFix/>
            </a:blip>
            <a:stretch>
              <a:fillRect t="-6024" b="-6024"/>
            </a:stretch>
          </a:blipFill>
          <a:ln>
            <a:noFill/>
          </a:ln>
        </p:spPr>
      </p:sp>
      <p:sp>
        <p:nvSpPr>
          <p:cNvPr id="113" name="Google Shape;113;p18"/>
          <p:cNvSpPr/>
          <p:nvPr/>
        </p:nvSpPr>
        <p:spPr>
          <a:xfrm>
            <a:off x="6146640" y="0"/>
            <a:ext cx="2997339" cy="838051"/>
          </a:xfrm>
          <a:custGeom>
            <a:avLst/>
            <a:gdLst/>
            <a:ahLst/>
            <a:cxnLst/>
            <a:rect l="l" t="t" r="r" b="b"/>
            <a:pathLst>
              <a:path w="4262882" h="1191895" extrusionOk="0">
                <a:moveTo>
                  <a:pt x="0" y="0"/>
                </a:moveTo>
                <a:lnTo>
                  <a:pt x="4262882" y="0"/>
                </a:lnTo>
                <a:lnTo>
                  <a:pt x="4262882" y="1191895"/>
                </a:lnTo>
                <a:lnTo>
                  <a:pt x="0" y="1191895"/>
                </a:lnTo>
                <a:lnTo>
                  <a:pt x="0" y="0"/>
                </a:lnTo>
                <a:close/>
              </a:path>
            </a:pathLst>
          </a:custGeom>
          <a:solidFill>
            <a:srgbClr val="FF3200"/>
          </a:solidFill>
          <a:ln>
            <a:noFill/>
          </a:ln>
        </p:spPr>
      </p:sp>
      <p:sp>
        <p:nvSpPr>
          <p:cNvPr id="114" name="Google Shape;114;p18"/>
          <p:cNvSpPr/>
          <p:nvPr/>
        </p:nvSpPr>
        <p:spPr>
          <a:xfrm>
            <a:off x="6553080" y="228600"/>
            <a:ext cx="2057040" cy="634680"/>
          </a:xfrm>
          <a:custGeom>
            <a:avLst/>
            <a:gdLst/>
            <a:ahLst/>
            <a:cxnLst/>
            <a:rect l="l" t="t" r="r" b="b"/>
            <a:pathLst>
              <a:path w="2194176" h="676992" extrusionOk="0">
                <a:moveTo>
                  <a:pt x="0" y="0"/>
                </a:moveTo>
                <a:lnTo>
                  <a:pt x="2194176" y="0"/>
                </a:lnTo>
                <a:lnTo>
                  <a:pt x="2194176" y="676992"/>
                </a:lnTo>
                <a:lnTo>
                  <a:pt x="0" y="676992"/>
                </a:lnTo>
                <a:lnTo>
                  <a:pt x="0" y="0"/>
                </a:lnTo>
                <a:close/>
              </a:path>
            </a:pathLst>
          </a:custGeom>
          <a:blipFill rotWithShape="1">
            <a:blip r:embed="rId3">
              <a:alphaModFix/>
            </a:blip>
            <a:stretch>
              <a:fillRect t="-6024" b="-6024"/>
            </a:stretch>
          </a:blipFill>
          <a:ln>
            <a:noFill/>
          </a:ln>
        </p:spPr>
      </p:sp>
      <p:sp>
        <p:nvSpPr>
          <p:cNvPr id="115" name="Google Shape;115;p18"/>
          <p:cNvSpPr/>
          <p:nvPr/>
        </p:nvSpPr>
        <p:spPr>
          <a:xfrm>
            <a:off x="6527880" y="190440"/>
            <a:ext cx="2076510" cy="685800"/>
          </a:xfrm>
          <a:custGeom>
            <a:avLst/>
            <a:gdLst/>
            <a:ahLst/>
            <a:cxnLst/>
            <a:rect l="l" t="t" r="r" b="b"/>
            <a:pathLst>
              <a:path w="2953258" h="975360" extrusionOk="0">
                <a:moveTo>
                  <a:pt x="0" y="0"/>
                </a:moveTo>
                <a:lnTo>
                  <a:pt x="2953258" y="0"/>
                </a:lnTo>
                <a:lnTo>
                  <a:pt x="2953258" y="975360"/>
                </a:lnTo>
                <a:lnTo>
                  <a:pt x="0" y="975360"/>
                </a:lnTo>
                <a:lnTo>
                  <a:pt x="0" y="0"/>
                </a:lnTo>
                <a:close/>
              </a:path>
            </a:pathLst>
          </a:custGeom>
          <a:solidFill>
            <a:srgbClr val="FFFFFF"/>
          </a:solidFill>
          <a:ln>
            <a:noFill/>
          </a:ln>
        </p:spPr>
      </p:sp>
      <p:sp>
        <p:nvSpPr>
          <p:cNvPr id="116" name="Google Shape;116;p18"/>
          <p:cNvSpPr/>
          <p:nvPr/>
        </p:nvSpPr>
        <p:spPr>
          <a:xfrm>
            <a:off x="6553080" y="228600"/>
            <a:ext cx="1920600" cy="609120"/>
          </a:xfrm>
          <a:custGeom>
            <a:avLst/>
            <a:gdLst/>
            <a:ahLst/>
            <a:cxnLst/>
            <a:rect l="l" t="t" r="r" b="b"/>
            <a:pathLst>
              <a:path w="2048640" h="649728" extrusionOk="0">
                <a:moveTo>
                  <a:pt x="0" y="0"/>
                </a:moveTo>
                <a:lnTo>
                  <a:pt x="2048640" y="0"/>
                </a:lnTo>
                <a:lnTo>
                  <a:pt x="2048640" y="649728"/>
                </a:lnTo>
                <a:lnTo>
                  <a:pt x="0" y="649728"/>
                </a:lnTo>
                <a:lnTo>
                  <a:pt x="0" y="0"/>
                </a:lnTo>
                <a:close/>
              </a:path>
            </a:pathLst>
          </a:custGeom>
          <a:blipFill rotWithShape="1">
            <a:blip r:embed="rId4">
              <a:alphaModFix/>
            </a:blip>
            <a:stretch>
              <a:fillRect t="-11" b="-11"/>
            </a:stretch>
          </a:blipFill>
          <a:ln>
            <a:noFill/>
          </a:ln>
        </p:spPr>
      </p:sp>
      <p:sp>
        <p:nvSpPr>
          <p:cNvPr id="117" name="Google Shape;117;p18"/>
          <p:cNvSpPr/>
          <p:nvPr/>
        </p:nvSpPr>
        <p:spPr>
          <a:xfrm>
            <a:off x="6553080" y="228600"/>
            <a:ext cx="2057040" cy="634680"/>
          </a:xfrm>
          <a:custGeom>
            <a:avLst/>
            <a:gdLst/>
            <a:ahLst/>
            <a:cxnLst/>
            <a:rect l="l" t="t" r="r" b="b"/>
            <a:pathLst>
              <a:path w="2194176" h="676992" extrusionOk="0">
                <a:moveTo>
                  <a:pt x="0" y="0"/>
                </a:moveTo>
                <a:lnTo>
                  <a:pt x="2194176" y="0"/>
                </a:lnTo>
                <a:lnTo>
                  <a:pt x="2194176" y="676992"/>
                </a:lnTo>
                <a:lnTo>
                  <a:pt x="0" y="676992"/>
                </a:lnTo>
                <a:lnTo>
                  <a:pt x="0" y="0"/>
                </a:lnTo>
                <a:close/>
              </a:path>
            </a:pathLst>
          </a:custGeom>
          <a:blipFill rotWithShape="1">
            <a:blip r:embed="rId3">
              <a:alphaModFix/>
            </a:blip>
            <a:stretch>
              <a:fillRect t="-6024" b="-6024"/>
            </a:stretch>
          </a:blipFill>
          <a:ln>
            <a:noFill/>
          </a:ln>
        </p:spPr>
      </p:sp>
      <p:sp>
        <p:nvSpPr>
          <p:cNvPr id="118" name="Google Shape;118;p18"/>
          <p:cNvSpPr/>
          <p:nvPr/>
        </p:nvSpPr>
        <p:spPr>
          <a:xfrm>
            <a:off x="6146640" y="0"/>
            <a:ext cx="2997339" cy="838051"/>
          </a:xfrm>
          <a:custGeom>
            <a:avLst/>
            <a:gdLst/>
            <a:ahLst/>
            <a:cxnLst/>
            <a:rect l="l" t="t" r="r" b="b"/>
            <a:pathLst>
              <a:path w="4262882" h="1191895" extrusionOk="0">
                <a:moveTo>
                  <a:pt x="0" y="0"/>
                </a:moveTo>
                <a:lnTo>
                  <a:pt x="4262882" y="0"/>
                </a:lnTo>
                <a:lnTo>
                  <a:pt x="4262882" y="1191895"/>
                </a:lnTo>
                <a:lnTo>
                  <a:pt x="0" y="1191895"/>
                </a:lnTo>
                <a:lnTo>
                  <a:pt x="0" y="0"/>
                </a:lnTo>
                <a:close/>
              </a:path>
            </a:pathLst>
          </a:custGeom>
          <a:solidFill>
            <a:srgbClr val="FF3200"/>
          </a:solidFill>
          <a:ln>
            <a:noFill/>
          </a:ln>
        </p:spPr>
      </p:sp>
      <p:sp>
        <p:nvSpPr>
          <p:cNvPr id="119" name="Google Shape;119;p18"/>
          <p:cNvSpPr/>
          <p:nvPr/>
        </p:nvSpPr>
        <p:spPr>
          <a:xfrm>
            <a:off x="6553080" y="228600"/>
            <a:ext cx="2057040" cy="634680"/>
          </a:xfrm>
          <a:custGeom>
            <a:avLst/>
            <a:gdLst/>
            <a:ahLst/>
            <a:cxnLst/>
            <a:rect l="l" t="t" r="r" b="b"/>
            <a:pathLst>
              <a:path w="2194176" h="676992" extrusionOk="0">
                <a:moveTo>
                  <a:pt x="0" y="0"/>
                </a:moveTo>
                <a:lnTo>
                  <a:pt x="2194176" y="0"/>
                </a:lnTo>
                <a:lnTo>
                  <a:pt x="2194176" y="676992"/>
                </a:lnTo>
                <a:lnTo>
                  <a:pt x="0" y="676992"/>
                </a:lnTo>
                <a:lnTo>
                  <a:pt x="0" y="0"/>
                </a:lnTo>
                <a:close/>
              </a:path>
            </a:pathLst>
          </a:custGeom>
          <a:blipFill rotWithShape="1">
            <a:blip r:embed="rId3">
              <a:alphaModFix/>
            </a:blip>
            <a:stretch>
              <a:fillRect t="-6024" b="-6024"/>
            </a:stretch>
          </a:blipFill>
          <a:ln>
            <a:noFill/>
          </a:ln>
        </p:spPr>
      </p:sp>
      <p:sp>
        <p:nvSpPr>
          <p:cNvPr id="120" name="Google Shape;120;p18"/>
          <p:cNvSpPr/>
          <p:nvPr/>
        </p:nvSpPr>
        <p:spPr>
          <a:xfrm>
            <a:off x="6527880" y="190440"/>
            <a:ext cx="2076510" cy="685800"/>
          </a:xfrm>
          <a:custGeom>
            <a:avLst/>
            <a:gdLst/>
            <a:ahLst/>
            <a:cxnLst/>
            <a:rect l="l" t="t" r="r" b="b"/>
            <a:pathLst>
              <a:path w="2953258" h="975360" extrusionOk="0">
                <a:moveTo>
                  <a:pt x="0" y="0"/>
                </a:moveTo>
                <a:lnTo>
                  <a:pt x="2953258" y="0"/>
                </a:lnTo>
                <a:lnTo>
                  <a:pt x="2953258" y="975360"/>
                </a:lnTo>
                <a:lnTo>
                  <a:pt x="0" y="975360"/>
                </a:lnTo>
                <a:lnTo>
                  <a:pt x="0" y="0"/>
                </a:lnTo>
                <a:close/>
              </a:path>
            </a:pathLst>
          </a:custGeom>
          <a:solidFill>
            <a:srgbClr val="FFFFFF"/>
          </a:solidFill>
          <a:ln>
            <a:noFill/>
          </a:ln>
        </p:spPr>
      </p:sp>
      <p:sp>
        <p:nvSpPr>
          <p:cNvPr id="121" name="Google Shape;121;p18"/>
          <p:cNvSpPr/>
          <p:nvPr/>
        </p:nvSpPr>
        <p:spPr>
          <a:xfrm>
            <a:off x="6553080" y="228600"/>
            <a:ext cx="1920600" cy="609120"/>
          </a:xfrm>
          <a:custGeom>
            <a:avLst/>
            <a:gdLst/>
            <a:ahLst/>
            <a:cxnLst/>
            <a:rect l="l" t="t" r="r" b="b"/>
            <a:pathLst>
              <a:path w="2048640" h="649728" extrusionOk="0">
                <a:moveTo>
                  <a:pt x="0" y="0"/>
                </a:moveTo>
                <a:lnTo>
                  <a:pt x="2048640" y="0"/>
                </a:lnTo>
                <a:lnTo>
                  <a:pt x="2048640" y="649728"/>
                </a:lnTo>
                <a:lnTo>
                  <a:pt x="0" y="649728"/>
                </a:lnTo>
                <a:lnTo>
                  <a:pt x="0" y="0"/>
                </a:lnTo>
                <a:close/>
              </a:path>
            </a:pathLst>
          </a:custGeom>
          <a:blipFill rotWithShape="1">
            <a:blip r:embed="rId4">
              <a:alphaModFix/>
            </a:blip>
            <a:stretch>
              <a:fillRect t="-11" b="-11"/>
            </a:stretch>
          </a:blipFill>
          <a:ln>
            <a:noFill/>
          </a:ln>
        </p:spPr>
      </p:sp>
      <p:sp>
        <p:nvSpPr>
          <p:cNvPr id="122" name="Google Shape;122;p18"/>
          <p:cNvSpPr txBox="1"/>
          <p:nvPr/>
        </p:nvSpPr>
        <p:spPr>
          <a:xfrm>
            <a:off x="-586195" y="146707"/>
            <a:ext cx="6923455" cy="487313"/>
          </a:xfrm>
          <a:prstGeom prst="rect">
            <a:avLst/>
          </a:prstGeom>
          <a:noFill/>
          <a:ln>
            <a:noFill/>
          </a:ln>
        </p:spPr>
        <p:txBody>
          <a:bodyPr spcFirstLastPara="1" wrap="square" lIns="0" tIns="0" rIns="0" bIns="0" anchor="t" anchorCtr="0">
            <a:spAutoFit/>
          </a:bodyPr>
          <a:lstStyle/>
          <a:p>
            <a:pPr marL="0" marR="0" lvl="0" indent="0" algn="ctr" rtl="0">
              <a:lnSpc>
                <a:spcPct val="119968"/>
              </a:lnSpc>
              <a:spcBef>
                <a:spcPts val="0"/>
              </a:spcBef>
              <a:spcAft>
                <a:spcPts val="0"/>
              </a:spcAft>
              <a:buNone/>
            </a:pPr>
            <a:r>
              <a:rPr lang="en-US" sz="3200" b="1">
                <a:solidFill>
                  <a:srgbClr val="000000"/>
                </a:solidFill>
                <a:latin typeface="Times New Roman"/>
                <a:ea typeface="Times New Roman"/>
                <a:cs typeface="Times New Roman"/>
                <a:sym typeface="Times New Roman"/>
              </a:rPr>
              <a:t>Key Features &amp; Functionalities</a:t>
            </a:r>
            <a:endParaRPr/>
          </a:p>
        </p:txBody>
      </p:sp>
      <p:sp>
        <p:nvSpPr>
          <p:cNvPr id="123" name="Google Shape;123;p18"/>
          <p:cNvSpPr/>
          <p:nvPr/>
        </p:nvSpPr>
        <p:spPr>
          <a:xfrm flipH="1">
            <a:off x="421418" y="1359673"/>
            <a:ext cx="8182971" cy="2392578"/>
          </a:xfrm>
          <a:prstGeom prst="rect">
            <a:avLst/>
          </a:prstGeom>
          <a:noFill/>
          <a:ln>
            <a:noFill/>
          </a:ln>
        </p:spPr>
        <p:txBody>
          <a:bodyPr spcFirstLastPara="1" wrap="square" lIns="91425" tIns="45700" rIns="91425" bIns="45700" anchor="ctr" anchorCtr="0">
            <a:noAutofit/>
          </a:bodyPr>
          <a:lstStyle/>
          <a:p>
            <a:pPr marL="69850" lvl="0" algn="just">
              <a:buClr>
                <a:schemeClr val="dk1"/>
              </a:buClr>
              <a:buSzPts val="2500"/>
            </a:pPr>
            <a:endParaRPr lang="en-US" sz="1800" dirty="0">
              <a:solidFill>
                <a:schemeClr val="dk1"/>
              </a:solidFill>
              <a:latin typeface="Times New Roman"/>
              <a:ea typeface="Times New Roman"/>
              <a:cs typeface="Times New Roman"/>
              <a:sym typeface="Times New Roman"/>
            </a:endParaRPr>
          </a:p>
          <a:p>
            <a:pPr marL="457200" lvl="0" indent="-387350" algn="just">
              <a:buClr>
                <a:schemeClr val="dk1"/>
              </a:buClr>
              <a:buSzPts val="2500"/>
              <a:buFont typeface="Times New Roman"/>
              <a:buChar char="•"/>
            </a:pPr>
            <a:r>
              <a:rPr lang="en-US" dirty="0" smtClean="0">
                <a:solidFill>
                  <a:schemeClr val="dk1"/>
                </a:solidFill>
                <a:latin typeface="Times New Roman"/>
                <a:ea typeface="Times New Roman"/>
                <a:cs typeface="Times New Roman"/>
                <a:sym typeface="Times New Roman"/>
              </a:rPr>
              <a:t> </a:t>
            </a:r>
            <a:r>
              <a:rPr lang="en-US" dirty="0">
                <a:solidFill>
                  <a:schemeClr val="dk1"/>
                </a:solidFill>
                <a:latin typeface="Times New Roman"/>
                <a:ea typeface="Times New Roman"/>
                <a:cs typeface="Times New Roman"/>
                <a:sym typeface="Times New Roman"/>
              </a:rPr>
              <a:t>It utilizes machine learning for heart disease </a:t>
            </a:r>
            <a:r>
              <a:rPr lang="en-US" dirty="0" smtClean="0">
                <a:solidFill>
                  <a:schemeClr val="dk1"/>
                </a:solidFill>
                <a:latin typeface="Times New Roman"/>
                <a:ea typeface="Times New Roman"/>
                <a:cs typeface="Times New Roman"/>
                <a:sym typeface="Times New Roman"/>
              </a:rPr>
              <a:t>prediction.</a:t>
            </a:r>
          </a:p>
          <a:p>
            <a:pPr marL="457200" lvl="0" indent="-387350" algn="just">
              <a:buClr>
                <a:schemeClr val="dk1"/>
              </a:buClr>
              <a:buSzPts val="2500"/>
              <a:buFont typeface="Times New Roman"/>
              <a:buChar char="•"/>
            </a:pPr>
            <a:endParaRPr lang="en-US" dirty="0">
              <a:solidFill>
                <a:schemeClr val="dk1"/>
              </a:solidFill>
              <a:latin typeface="Times New Roman"/>
              <a:ea typeface="Times New Roman"/>
              <a:cs typeface="Times New Roman"/>
              <a:sym typeface="Times New Roman"/>
            </a:endParaRPr>
          </a:p>
          <a:p>
            <a:pPr marL="457200" lvl="0" indent="-387350" algn="just">
              <a:buClr>
                <a:schemeClr val="dk1"/>
              </a:buClr>
              <a:buSzPts val="2500"/>
              <a:buFont typeface="Times New Roman"/>
              <a:buChar char="•"/>
            </a:pPr>
            <a:r>
              <a:rPr lang="en-US" dirty="0" smtClean="0">
                <a:solidFill>
                  <a:schemeClr val="dk1"/>
                </a:solidFill>
                <a:latin typeface="Times New Roman"/>
                <a:ea typeface="Times New Roman"/>
                <a:cs typeface="Times New Roman"/>
                <a:sym typeface="Times New Roman"/>
              </a:rPr>
              <a:t> </a:t>
            </a:r>
            <a:r>
              <a:rPr lang="en-US" dirty="0">
                <a:solidFill>
                  <a:schemeClr val="dk1"/>
                </a:solidFill>
                <a:latin typeface="Times New Roman"/>
                <a:ea typeface="Times New Roman"/>
                <a:cs typeface="Times New Roman"/>
                <a:sym typeface="Times New Roman"/>
              </a:rPr>
              <a:t>It includes multiple algorithms for heart disease prediction, such as Logistic Regression, KNN, and Random </a:t>
            </a:r>
            <a:r>
              <a:rPr lang="en-US" dirty="0" smtClean="0">
                <a:solidFill>
                  <a:schemeClr val="dk1"/>
                </a:solidFill>
                <a:latin typeface="Times New Roman"/>
                <a:ea typeface="Times New Roman"/>
                <a:cs typeface="Times New Roman"/>
                <a:sym typeface="Times New Roman"/>
              </a:rPr>
              <a:t>Forest.</a:t>
            </a:r>
          </a:p>
          <a:p>
            <a:pPr marL="457200" lvl="0" indent="-387350" algn="just">
              <a:buClr>
                <a:schemeClr val="dk1"/>
              </a:buClr>
              <a:buSzPts val="2500"/>
              <a:buFont typeface="Times New Roman"/>
              <a:buChar char="•"/>
            </a:pPr>
            <a:endParaRPr lang="en-US" dirty="0">
              <a:solidFill>
                <a:schemeClr val="dk1"/>
              </a:solidFill>
              <a:latin typeface="Times New Roman"/>
              <a:ea typeface="Times New Roman"/>
              <a:cs typeface="Times New Roman"/>
              <a:sym typeface="Times New Roman"/>
            </a:endParaRPr>
          </a:p>
          <a:p>
            <a:pPr marL="457200" lvl="0" indent="-387350" algn="just">
              <a:buClr>
                <a:schemeClr val="dk1"/>
              </a:buClr>
              <a:buSzPts val="2500"/>
              <a:buFont typeface="Times New Roman"/>
              <a:buChar char="•"/>
            </a:pPr>
            <a:r>
              <a:rPr lang="en-US" dirty="0" smtClean="0">
                <a:solidFill>
                  <a:schemeClr val="dk1"/>
                </a:solidFill>
                <a:latin typeface="Times New Roman"/>
                <a:ea typeface="Times New Roman"/>
                <a:cs typeface="Times New Roman"/>
                <a:sym typeface="Times New Roman"/>
              </a:rPr>
              <a:t> </a:t>
            </a:r>
            <a:r>
              <a:rPr lang="en-US" dirty="0">
                <a:solidFill>
                  <a:schemeClr val="dk1"/>
                </a:solidFill>
                <a:latin typeface="Times New Roman"/>
                <a:ea typeface="Times New Roman"/>
                <a:cs typeface="Times New Roman"/>
                <a:sym typeface="Times New Roman"/>
              </a:rPr>
              <a:t>It includes data preprocessing steps such as data cleaning, normalization, and removing </a:t>
            </a:r>
            <a:r>
              <a:rPr lang="en-US" dirty="0" smtClean="0">
                <a:solidFill>
                  <a:schemeClr val="dk1"/>
                </a:solidFill>
                <a:latin typeface="Times New Roman"/>
                <a:ea typeface="Times New Roman"/>
                <a:cs typeface="Times New Roman"/>
                <a:sym typeface="Times New Roman"/>
              </a:rPr>
              <a:t>outliers.</a:t>
            </a:r>
          </a:p>
          <a:p>
            <a:pPr marL="457200" lvl="0" indent="-387350" algn="just">
              <a:buClr>
                <a:schemeClr val="dk1"/>
              </a:buClr>
              <a:buSzPts val="2500"/>
              <a:buFont typeface="Times New Roman"/>
              <a:buChar char="•"/>
            </a:pPr>
            <a:endParaRPr lang="en-US" dirty="0">
              <a:solidFill>
                <a:schemeClr val="dk1"/>
              </a:solidFill>
              <a:latin typeface="Times New Roman"/>
              <a:ea typeface="Times New Roman"/>
              <a:cs typeface="Times New Roman"/>
              <a:sym typeface="Times New Roman"/>
            </a:endParaRPr>
          </a:p>
          <a:p>
            <a:pPr marL="457200" lvl="0" indent="-387350" algn="just">
              <a:buClr>
                <a:schemeClr val="dk1"/>
              </a:buClr>
              <a:buSzPts val="2500"/>
              <a:buFont typeface="Times New Roman"/>
              <a:buChar char="•"/>
            </a:pPr>
            <a:r>
              <a:rPr lang="en-US" dirty="0" smtClean="0">
                <a:solidFill>
                  <a:schemeClr val="dk1"/>
                </a:solidFill>
                <a:latin typeface="Times New Roman"/>
                <a:ea typeface="Times New Roman"/>
                <a:cs typeface="Times New Roman"/>
                <a:sym typeface="Times New Roman"/>
              </a:rPr>
              <a:t> </a:t>
            </a:r>
            <a:r>
              <a:rPr lang="en-US" dirty="0">
                <a:solidFill>
                  <a:schemeClr val="dk1"/>
                </a:solidFill>
                <a:latin typeface="Times New Roman"/>
                <a:ea typeface="Times New Roman"/>
                <a:cs typeface="Times New Roman"/>
                <a:sym typeface="Times New Roman"/>
              </a:rPr>
              <a:t>It includes feature selection and dimensionality reduction for better </a:t>
            </a:r>
            <a:r>
              <a:rPr lang="en-US" dirty="0" smtClean="0">
                <a:solidFill>
                  <a:schemeClr val="dk1"/>
                </a:solidFill>
                <a:latin typeface="Times New Roman"/>
                <a:ea typeface="Times New Roman"/>
                <a:cs typeface="Times New Roman"/>
                <a:sym typeface="Times New Roman"/>
              </a:rPr>
              <a:t>performance.</a:t>
            </a:r>
          </a:p>
          <a:p>
            <a:pPr marL="457200" lvl="0" indent="-387350" algn="just">
              <a:buClr>
                <a:schemeClr val="dk1"/>
              </a:buClr>
              <a:buSzPts val="2500"/>
              <a:buFont typeface="Times New Roman"/>
              <a:buChar char="•"/>
            </a:pPr>
            <a:endParaRPr lang="en-US" dirty="0">
              <a:solidFill>
                <a:schemeClr val="dk1"/>
              </a:solidFill>
              <a:latin typeface="Times New Roman"/>
              <a:ea typeface="Times New Roman"/>
              <a:cs typeface="Times New Roman"/>
              <a:sym typeface="Times New Roman"/>
            </a:endParaRPr>
          </a:p>
          <a:p>
            <a:pPr marL="457200" lvl="0" indent="-387350" algn="just">
              <a:buClr>
                <a:schemeClr val="dk1"/>
              </a:buClr>
              <a:buSzPts val="2500"/>
              <a:buFont typeface="Times New Roman"/>
              <a:buChar char="•"/>
            </a:pPr>
            <a:r>
              <a:rPr lang="en-US" dirty="0" smtClean="0">
                <a:solidFill>
                  <a:schemeClr val="dk1"/>
                </a:solidFill>
                <a:latin typeface="Times New Roman"/>
                <a:ea typeface="Times New Roman"/>
                <a:cs typeface="Times New Roman"/>
                <a:sym typeface="Times New Roman"/>
              </a:rPr>
              <a:t> </a:t>
            </a:r>
            <a:r>
              <a:rPr lang="en-US" dirty="0">
                <a:solidFill>
                  <a:schemeClr val="dk1"/>
                </a:solidFill>
                <a:latin typeface="Times New Roman"/>
                <a:ea typeface="Times New Roman"/>
                <a:cs typeface="Times New Roman"/>
                <a:sym typeface="Times New Roman"/>
              </a:rPr>
              <a:t>It includes the evaluation of the model by utilizing accuracy, precision, recall, and </a:t>
            </a:r>
            <a:r>
              <a:rPr lang="en-US" dirty="0" smtClean="0">
                <a:solidFill>
                  <a:schemeClr val="dk1"/>
                </a:solidFill>
                <a:latin typeface="Times New Roman"/>
                <a:ea typeface="Times New Roman"/>
                <a:cs typeface="Times New Roman"/>
                <a:sym typeface="Times New Roman"/>
              </a:rPr>
              <a:t>   F1-score.</a:t>
            </a:r>
          </a:p>
          <a:p>
            <a:pPr marL="457200" lvl="0" indent="-387350" algn="just">
              <a:buClr>
                <a:schemeClr val="dk1"/>
              </a:buClr>
              <a:buSzPts val="2500"/>
              <a:buFont typeface="Times New Roman"/>
              <a:buChar char="•"/>
            </a:pPr>
            <a:endParaRPr lang="en-US" dirty="0">
              <a:solidFill>
                <a:schemeClr val="dk1"/>
              </a:solidFill>
              <a:latin typeface="Times New Roman"/>
              <a:ea typeface="Times New Roman"/>
              <a:cs typeface="Times New Roman"/>
              <a:sym typeface="Times New Roman"/>
            </a:endParaRPr>
          </a:p>
          <a:p>
            <a:pPr marL="457200" lvl="0" indent="-387350" algn="just">
              <a:buClr>
                <a:schemeClr val="dk1"/>
              </a:buClr>
              <a:buSzPts val="2500"/>
              <a:buFont typeface="Times New Roman"/>
              <a:buChar char="•"/>
            </a:pPr>
            <a:r>
              <a:rPr lang="en-US" dirty="0" smtClean="0">
                <a:solidFill>
                  <a:schemeClr val="dk1"/>
                </a:solidFill>
                <a:latin typeface="Times New Roman"/>
                <a:ea typeface="Times New Roman"/>
                <a:cs typeface="Times New Roman"/>
                <a:sym typeface="Times New Roman"/>
              </a:rPr>
              <a:t> </a:t>
            </a:r>
            <a:r>
              <a:rPr lang="en-US" dirty="0">
                <a:solidFill>
                  <a:schemeClr val="dk1"/>
                </a:solidFill>
                <a:latin typeface="Times New Roman"/>
                <a:ea typeface="Times New Roman"/>
                <a:cs typeface="Times New Roman"/>
                <a:sym typeface="Times New Roman"/>
              </a:rPr>
              <a:t>It includes comparative analysis for multiple </a:t>
            </a:r>
            <a:r>
              <a:rPr lang="en-US" dirty="0" smtClean="0">
                <a:solidFill>
                  <a:schemeClr val="dk1"/>
                </a:solidFill>
                <a:latin typeface="Times New Roman"/>
                <a:ea typeface="Times New Roman"/>
                <a:cs typeface="Times New Roman"/>
                <a:sym typeface="Times New Roman"/>
              </a:rPr>
              <a:t>algorithms.</a:t>
            </a:r>
          </a:p>
          <a:p>
            <a:pPr marL="457200" lvl="0" indent="-387350" algn="just">
              <a:buClr>
                <a:schemeClr val="dk1"/>
              </a:buClr>
              <a:buSzPts val="2500"/>
              <a:buFont typeface="Times New Roman"/>
              <a:buChar char="•"/>
            </a:pPr>
            <a:endParaRPr lang="en-US" dirty="0">
              <a:solidFill>
                <a:schemeClr val="dk1"/>
              </a:solidFill>
              <a:latin typeface="Times New Roman"/>
              <a:ea typeface="Times New Roman"/>
              <a:cs typeface="Times New Roman"/>
              <a:sym typeface="Times New Roman"/>
            </a:endParaRPr>
          </a:p>
          <a:p>
            <a:pPr marL="457200" lvl="0" indent="-387350" algn="just">
              <a:buClr>
                <a:schemeClr val="dk1"/>
              </a:buClr>
              <a:buSzPts val="2500"/>
              <a:buFont typeface="Times New Roman"/>
              <a:buChar char="•"/>
            </a:pPr>
            <a:r>
              <a:rPr lang="en-US" dirty="0" smtClean="0">
                <a:solidFill>
                  <a:schemeClr val="dk1"/>
                </a:solidFill>
                <a:latin typeface="Times New Roman"/>
                <a:ea typeface="Times New Roman"/>
                <a:cs typeface="Times New Roman"/>
                <a:sym typeface="Times New Roman"/>
              </a:rPr>
              <a:t> </a:t>
            </a:r>
            <a:r>
              <a:rPr lang="en-US" dirty="0">
                <a:solidFill>
                  <a:schemeClr val="dk1"/>
                </a:solidFill>
                <a:latin typeface="Times New Roman"/>
                <a:ea typeface="Times New Roman"/>
                <a:cs typeface="Times New Roman"/>
                <a:sym typeface="Times New Roman"/>
              </a:rPr>
              <a:t>It aids in the early detection of heart disease</a:t>
            </a:r>
          </a:p>
          <a:p>
            <a:pPr marL="457200" lvl="0" indent="-387350" algn="just">
              <a:buClr>
                <a:schemeClr val="dk1"/>
              </a:buClr>
              <a:buSzPts val="2500"/>
              <a:buFont typeface="Times New Roman"/>
              <a:buChar char="•"/>
            </a:pPr>
            <a:endParaRPr lang="en-US" dirty="0" smtClean="0">
              <a:solidFill>
                <a:schemeClr val="dk1"/>
              </a:solidFill>
              <a:latin typeface="Times New Roman"/>
              <a:ea typeface="Times New Roman"/>
              <a:cs typeface="Times New Roman"/>
              <a:sym typeface="Times New Roman"/>
            </a:endParaRPr>
          </a:p>
          <a:p>
            <a:pPr marL="457200" lvl="0" indent="-387350" algn="just">
              <a:buClr>
                <a:schemeClr val="dk1"/>
              </a:buClr>
              <a:buSzPts val="2500"/>
              <a:buFont typeface="Times New Roman"/>
              <a:buChar char="•"/>
            </a:pPr>
            <a:r>
              <a:rPr lang="en-US" dirty="0" smtClean="0">
                <a:solidFill>
                  <a:schemeClr val="dk1"/>
                </a:solidFill>
                <a:latin typeface="Times New Roman"/>
                <a:ea typeface="Times New Roman"/>
                <a:cs typeface="Times New Roman"/>
                <a:sym typeface="Times New Roman"/>
              </a:rPr>
              <a:t>It </a:t>
            </a:r>
            <a:r>
              <a:rPr lang="en-US" dirty="0">
                <a:solidFill>
                  <a:schemeClr val="dk1"/>
                </a:solidFill>
                <a:latin typeface="Times New Roman"/>
                <a:ea typeface="Times New Roman"/>
                <a:cs typeface="Times New Roman"/>
                <a:sym typeface="Times New Roman"/>
              </a:rPr>
              <a:t>aims to reduce the mortality rate and improve healthcare services</a:t>
            </a:r>
            <a:endParaRPr dirty="0">
              <a:solidFill>
                <a:schemeClr val="dk1"/>
              </a:solidFill>
              <a:latin typeface="Times New Roman"/>
              <a:ea typeface="Times New Roman"/>
              <a:cs typeface="Times New Roman"/>
              <a:sym typeface="Times New Roman"/>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9"/>
          <p:cNvSpPr/>
          <p:nvPr/>
        </p:nvSpPr>
        <p:spPr>
          <a:xfrm>
            <a:off x="0" y="6744397"/>
            <a:ext cx="9144000" cy="197971"/>
          </a:xfrm>
          <a:custGeom>
            <a:avLst/>
            <a:gdLst/>
            <a:ahLst/>
            <a:cxnLst/>
            <a:rect l="l" t="t" r="r" b="b"/>
            <a:pathLst>
              <a:path w="13004800" h="281559" extrusionOk="0">
                <a:moveTo>
                  <a:pt x="0" y="0"/>
                </a:moveTo>
                <a:lnTo>
                  <a:pt x="13004800" y="0"/>
                </a:lnTo>
                <a:lnTo>
                  <a:pt x="13004800" y="281559"/>
                </a:lnTo>
                <a:lnTo>
                  <a:pt x="0" y="281559"/>
                </a:lnTo>
                <a:lnTo>
                  <a:pt x="0" y="0"/>
                </a:lnTo>
                <a:close/>
              </a:path>
            </a:pathLst>
          </a:custGeom>
          <a:solidFill>
            <a:srgbClr val="FF0000"/>
          </a:solidFill>
          <a:ln>
            <a:noFill/>
          </a:ln>
        </p:spPr>
      </p:sp>
      <p:sp>
        <p:nvSpPr>
          <p:cNvPr id="129" name="Google Shape;129;p19"/>
          <p:cNvSpPr/>
          <p:nvPr/>
        </p:nvSpPr>
        <p:spPr>
          <a:xfrm>
            <a:off x="6553080" y="228600"/>
            <a:ext cx="2057040" cy="634680"/>
          </a:xfrm>
          <a:custGeom>
            <a:avLst/>
            <a:gdLst/>
            <a:ahLst/>
            <a:cxnLst/>
            <a:rect l="l" t="t" r="r" b="b"/>
            <a:pathLst>
              <a:path w="2194176" h="676992" extrusionOk="0">
                <a:moveTo>
                  <a:pt x="0" y="0"/>
                </a:moveTo>
                <a:lnTo>
                  <a:pt x="2194176" y="0"/>
                </a:lnTo>
                <a:lnTo>
                  <a:pt x="2194176" y="676992"/>
                </a:lnTo>
                <a:lnTo>
                  <a:pt x="0" y="676992"/>
                </a:lnTo>
                <a:lnTo>
                  <a:pt x="0" y="0"/>
                </a:lnTo>
                <a:close/>
              </a:path>
            </a:pathLst>
          </a:custGeom>
          <a:blipFill rotWithShape="1">
            <a:blip r:embed="rId3">
              <a:alphaModFix/>
            </a:blip>
            <a:stretch>
              <a:fillRect t="-6024" b="-6024"/>
            </a:stretch>
          </a:blipFill>
          <a:ln>
            <a:noFill/>
          </a:ln>
        </p:spPr>
      </p:sp>
      <p:sp>
        <p:nvSpPr>
          <p:cNvPr id="130" name="Google Shape;130;p19"/>
          <p:cNvSpPr/>
          <p:nvPr/>
        </p:nvSpPr>
        <p:spPr>
          <a:xfrm>
            <a:off x="6553080" y="228600"/>
            <a:ext cx="2057040" cy="634680"/>
          </a:xfrm>
          <a:custGeom>
            <a:avLst/>
            <a:gdLst/>
            <a:ahLst/>
            <a:cxnLst/>
            <a:rect l="l" t="t" r="r" b="b"/>
            <a:pathLst>
              <a:path w="2194176" h="676992" extrusionOk="0">
                <a:moveTo>
                  <a:pt x="0" y="0"/>
                </a:moveTo>
                <a:lnTo>
                  <a:pt x="2194176" y="0"/>
                </a:lnTo>
                <a:lnTo>
                  <a:pt x="2194176" y="676992"/>
                </a:lnTo>
                <a:lnTo>
                  <a:pt x="0" y="676992"/>
                </a:lnTo>
                <a:lnTo>
                  <a:pt x="0" y="0"/>
                </a:lnTo>
                <a:close/>
              </a:path>
            </a:pathLst>
          </a:custGeom>
          <a:blipFill rotWithShape="1">
            <a:blip r:embed="rId3">
              <a:alphaModFix/>
            </a:blip>
            <a:stretch>
              <a:fillRect t="-6024" b="-6024"/>
            </a:stretch>
          </a:blipFill>
          <a:ln>
            <a:noFill/>
          </a:ln>
        </p:spPr>
      </p:sp>
      <p:sp>
        <p:nvSpPr>
          <p:cNvPr id="131" name="Google Shape;131;p19"/>
          <p:cNvSpPr/>
          <p:nvPr/>
        </p:nvSpPr>
        <p:spPr>
          <a:xfrm>
            <a:off x="6146640" y="0"/>
            <a:ext cx="2997339" cy="838051"/>
          </a:xfrm>
          <a:custGeom>
            <a:avLst/>
            <a:gdLst/>
            <a:ahLst/>
            <a:cxnLst/>
            <a:rect l="l" t="t" r="r" b="b"/>
            <a:pathLst>
              <a:path w="4262882" h="1191895" extrusionOk="0">
                <a:moveTo>
                  <a:pt x="0" y="0"/>
                </a:moveTo>
                <a:lnTo>
                  <a:pt x="4262882" y="0"/>
                </a:lnTo>
                <a:lnTo>
                  <a:pt x="4262882" y="1191895"/>
                </a:lnTo>
                <a:lnTo>
                  <a:pt x="0" y="1191895"/>
                </a:lnTo>
                <a:lnTo>
                  <a:pt x="0" y="0"/>
                </a:lnTo>
                <a:close/>
              </a:path>
            </a:pathLst>
          </a:custGeom>
          <a:solidFill>
            <a:srgbClr val="FF3200"/>
          </a:solidFill>
          <a:ln>
            <a:noFill/>
          </a:ln>
        </p:spPr>
      </p:sp>
      <p:sp>
        <p:nvSpPr>
          <p:cNvPr id="132" name="Google Shape;132;p19"/>
          <p:cNvSpPr/>
          <p:nvPr/>
        </p:nvSpPr>
        <p:spPr>
          <a:xfrm>
            <a:off x="6553080" y="228600"/>
            <a:ext cx="2057040" cy="634680"/>
          </a:xfrm>
          <a:custGeom>
            <a:avLst/>
            <a:gdLst/>
            <a:ahLst/>
            <a:cxnLst/>
            <a:rect l="l" t="t" r="r" b="b"/>
            <a:pathLst>
              <a:path w="2194176" h="676992" extrusionOk="0">
                <a:moveTo>
                  <a:pt x="0" y="0"/>
                </a:moveTo>
                <a:lnTo>
                  <a:pt x="2194176" y="0"/>
                </a:lnTo>
                <a:lnTo>
                  <a:pt x="2194176" y="676992"/>
                </a:lnTo>
                <a:lnTo>
                  <a:pt x="0" y="676992"/>
                </a:lnTo>
                <a:lnTo>
                  <a:pt x="0" y="0"/>
                </a:lnTo>
                <a:close/>
              </a:path>
            </a:pathLst>
          </a:custGeom>
          <a:blipFill rotWithShape="1">
            <a:blip r:embed="rId3">
              <a:alphaModFix/>
            </a:blip>
            <a:stretch>
              <a:fillRect t="-6024" b="-6024"/>
            </a:stretch>
          </a:blipFill>
          <a:ln>
            <a:noFill/>
          </a:ln>
        </p:spPr>
      </p:sp>
      <p:sp>
        <p:nvSpPr>
          <p:cNvPr id="133" name="Google Shape;133;p19"/>
          <p:cNvSpPr/>
          <p:nvPr/>
        </p:nvSpPr>
        <p:spPr>
          <a:xfrm>
            <a:off x="6527880" y="190440"/>
            <a:ext cx="2076510" cy="685800"/>
          </a:xfrm>
          <a:custGeom>
            <a:avLst/>
            <a:gdLst/>
            <a:ahLst/>
            <a:cxnLst/>
            <a:rect l="l" t="t" r="r" b="b"/>
            <a:pathLst>
              <a:path w="2953258" h="975360" extrusionOk="0">
                <a:moveTo>
                  <a:pt x="0" y="0"/>
                </a:moveTo>
                <a:lnTo>
                  <a:pt x="2953258" y="0"/>
                </a:lnTo>
                <a:lnTo>
                  <a:pt x="2953258" y="975360"/>
                </a:lnTo>
                <a:lnTo>
                  <a:pt x="0" y="975360"/>
                </a:lnTo>
                <a:lnTo>
                  <a:pt x="0" y="0"/>
                </a:lnTo>
                <a:close/>
              </a:path>
            </a:pathLst>
          </a:custGeom>
          <a:solidFill>
            <a:srgbClr val="FFFFFF"/>
          </a:solidFill>
          <a:ln>
            <a:noFill/>
          </a:ln>
        </p:spPr>
      </p:sp>
      <p:sp>
        <p:nvSpPr>
          <p:cNvPr id="134" name="Google Shape;134;p19"/>
          <p:cNvSpPr/>
          <p:nvPr/>
        </p:nvSpPr>
        <p:spPr>
          <a:xfrm>
            <a:off x="6553080" y="228600"/>
            <a:ext cx="1920600" cy="609120"/>
          </a:xfrm>
          <a:custGeom>
            <a:avLst/>
            <a:gdLst/>
            <a:ahLst/>
            <a:cxnLst/>
            <a:rect l="l" t="t" r="r" b="b"/>
            <a:pathLst>
              <a:path w="2048640" h="649728" extrusionOk="0">
                <a:moveTo>
                  <a:pt x="0" y="0"/>
                </a:moveTo>
                <a:lnTo>
                  <a:pt x="2048640" y="0"/>
                </a:lnTo>
                <a:lnTo>
                  <a:pt x="2048640" y="649728"/>
                </a:lnTo>
                <a:lnTo>
                  <a:pt x="0" y="649728"/>
                </a:lnTo>
                <a:lnTo>
                  <a:pt x="0" y="0"/>
                </a:lnTo>
                <a:close/>
              </a:path>
            </a:pathLst>
          </a:custGeom>
          <a:blipFill rotWithShape="1">
            <a:blip r:embed="rId4">
              <a:alphaModFix/>
            </a:blip>
            <a:stretch>
              <a:fillRect t="-11" b="-11"/>
            </a:stretch>
          </a:blipFill>
          <a:ln>
            <a:noFill/>
          </a:ln>
        </p:spPr>
      </p:sp>
      <p:sp>
        <p:nvSpPr>
          <p:cNvPr id="135" name="Google Shape;135;p19"/>
          <p:cNvSpPr/>
          <p:nvPr/>
        </p:nvSpPr>
        <p:spPr>
          <a:xfrm>
            <a:off x="6553080" y="228600"/>
            <a:ext cx="2057040" cy="634680"/>
          </a:xfrm>
          <a:custGeom>
            <a:avLst/>
            <a:gdLst/>
            <a:ahLst/>
            <a:cxnLst/>
            <a:rect l="l" t="t" r="r" b="b"/>
            <a:pathLst>
              <a:path w="2194176" h="676992" extrusionOk="0">
                <a:moveTo>
                  <a:pt x="0" y="0"/>
                </a:moveTo>
                <a:lnTo>
                  <a:pt x="2194176" y="0"/>
                </a:lnTo>
                <a:lnTo>
                  <a:pt x="2194176" y="676992"/>
                </a:lnTo>
                <a:lnTo>
                  <a:pt x="0" y="676992"/>
                </a:lnTo>
                <a:lnTo>
                  <a:pt x="0" y="0"/>
                </a:lnTo>
                <a:close/>
              </a:path>
            </a:pathLst>
          </a:custGeom>
          <a:blipFill rotWithShape="1">
            <a:blip r:embed="rId3">
              <a:alphaModFix/>
            </a:blip>
            <a:stretch>
              <a:fillRect t="-6024" b="-6024"/>
            </a:stretch>
          </a:blipFill>
          <a:ln>
            <a:noFill/>
          </a:ln>
        </p:spPr>
      </p:sp>
      <p:sp>
        <p:nvSpPr>
          <p:cNvPr id="136" name="Google Shape;136;p19"/>
          <p:cNvSpPr/>
          <p:nvPr/>
        </p:nvSpPr>
        <p:spPr>
          <a:xfrm>
            <a:off x="6146640" y="0"/>
            <a:ext cx="2997339" cy="838051"/>
          </a:xfrm>
          <a:custGeom>
            <a:avLst/>
            <a:gdLst/>
            <a:ahLst/>
            <a:cxnLst/>
            <a:rect l="l" t="t" r="r" b="b"/>
            <a:pathLst>
              <a:path w="4262882" h="1191895" extrusionOk="0">
                <a:moveTo>
                  <a:pt x="0" y="0"/>
                </a:moveTo>
                <a:lnTo>
                  <a:pt x="4262882" y="0"/>
                </a:lnTo>
                <a:lnTo>
                  <a:pt x="4262882" y="1191895"/>
                </a:lnTo>
                <a:lnTo>
                  <a:pt x="0" y="1191895"/>
                </a:lnTo>
                <a:lnTo>
                  <a:pt x="0" y="0"/>
                </a:lnTo>
                <a:close/>
              </a:path>
            </a:pathLst>
          </a:custGeom>
          <a:solidFill>
            <a:srgbClr val="FF3200"/>
          </a:solidFill>
          <a:ln>
            <a:noFill/>
          </a:ln>
        </p:spPr>
      </p:sp>
      <p:sp>
        <p:nvSpPr>
          <p:cNvPr id="137" name="Google Shape;137;p19"/>
          <p:cNvSpPr/>
          <p:nvPr/>
        </p:nvSpPr>
        <p:spPr>
          <a:xfrm>
            <a:off x="6553080" y="228600"/>
            <a:ext cx="2057040" cy="634680"/>
          </a:xfrm>
          <a:custGeom>
            <a:avLst/>
            <a:gdLst/>
            <a:ahLst/>
            <a:cxnLst/>
            <a:rect l="l" t="t" r="r" b="b"/>
            <a:pathLst>
              <a:path w="2194176" h="676992" extrusionOk="0">
                <a:moveTo>
                  <a:pt x="0" y="0"/>
                </a:moveTo>
                <a:lnTo>
                  <a:pt x="2194176" y="0"/>
                </a:lnTo>
                <a:lnTo>
                  <a:pt x="2194176" y="676992"/>
                </a:lnTo>
                <a:lnTo>
                  <a:pt x="0" y="676992"/>
                </a:lnTo>
                <a:lnTo>
                  <a:pt x="0" y="0"/>
                </a:lnTo>
                <a:close/>
              </a:path>
            </a:pathLst>
          </a:custGeom>
          <a:blipFill rotWithShape="1">
            <a:blip r:embed="rId3">
              <a:alphaModFix/>
            </a:blip>
            <a:stretch>
              <a:fillRect t="-6024" b="-6024"/>
            </a:stretch>
          </a:blipFill>
          <a:ln>
            <a:noFill/>
          </a:ln>
        </p:spPr>
      </p:sp>
      <p:sp>
        <p:nvSpPr>
          <p:cNvPr id="138" name="Google Shape;138;p19"/>
          <p:cNvSpPr/>
          <p:nvPr/>
        </p:nvSpPr>
        <p:spPr>
          <a:xfrm>
            <a:off x="6527880" y="190440"/>
            <a:ext cx="2076510" cy="685800"/>
          </a:xfrm>
          <a:custGeom>
            <a:avLst/>
            <a:gdLst/>
            <a:ahLst/>
            <a:cxnLst/>
            <a:rect l="l" t="t" r="r" b="b"/>
            <a:pathLst>
              <a:path w="2953258" h="975360" extrusionOk="0">
                <a:moveTo>
                  <a:pt x="0" y="0"/>
                </a:moveTo>
                <a:lnTo>
                  <a:pt x="2953258" y="0"/>
                </a:lnTo>
                <a:lnTo>
                  <a:pt x="2953258" y="975360"/>
                </a:lnTo>
                <a:lnTo>
                  <a:pt x="0" y="975360"/>
                </a:lnTo>
                <a:lnTo>
                  <a:pt x="0" y="0"/>
                </a:lnTo>
                <a:close/>
              </a:path>
            </a:pathLst>
          </a:custGeom>
          <a:solidFill>
            <a:srgbClr val="FFFFFF"/>
          </a:solidFill>
          <a:ln>
            <a:noFill/>
          </a:ln>
        </p:spPr>
      </p:sp>
      <p:sp>
        <p:nvSpPr>
          <p:cNvPr id="139" name="Google Shape;139;p19"/>
          <p:cNvSpPr/>
          <p:nvPr/>
        </p:nvSpPr>
        <p:spPr>
          <a:xfrm>
            <a:off x="6553080" y="228600"/>
            <a:ext cx="1920600" cy="609120"/>
          </a:xfrm>
          <a:custGeom>
            <a:avLst/>
            <a:gdLst/>
            <a:ahLst/>
            <a:cxnLst/>
            <a:rect l="l" t="t" r="r" b="b"/>
            <a:pathLst>
              <a:path w="2048640" h="649728" extrusionOk="0">
                <a:moveTo>
                  <a:pt x="0" y="0"/>
                </a:moveTo>
                <a:lnTo>
                  <a:pt x="2048640" y="0"/>
                </a:lnTo>
                <a:lnTo>
                  <a:pt x="2048640" y="649728"/>
                </a:lnTo>
                <a:lnTo>
                  <a:pt x="0" y="649728"/>
                </a:lnTo>
                <a:lnTo>
                  <a:pt x="0" y="0"/>
                </a:lnTo>
                <a:close/>
              </a:path>
            </a:pathLst>
          </a:custGeom>
          <a:blipFill rotWithShape="1">
            <a:blip r:embed="rId4">
              <a:alphaModFix/>
            </a:blip>
            <a:stretch>
              <a:fillRect t="-11" b="-11"/>
            </a:stretch>
          </a:blipFill>
          <a:ln>
            <a:noFill/>
          </a:ln>
        </p:spPr>
      </p:sp>
      <p:sp>
        <p:nvSpPr>
          <p:cNvPr id="140" name="Google Shape;140;p19"/>
          <p:cNvSpPr txBox="1"/>
          <p:nvPr/>
        </p:nvSpPr>
        <p:spPr>
          <a:xfrm>
            <a:off x="100683" y="228600"/>
            <a:ext cx="5793355" cy="448841"/>
          </a:xfrm>
          <a:prstGeom prst="rect">
            <a:avLst/>
          </a:prstGeom>
          <a:noFill/>
          <a:ln>
            <a:noFill/>
          </a:ln>
        </p:spPr>
        <p:txBody>
          <a:bodyPr spcFirstLastPara="1" wrap="square" lIns="0" tIns="0" rIns="0" bIns="0" anchor="t" anchorCtr="0">
            <a:spAutoFit/>
          </a:bodyPr>
          <a:lstStyle/>
          <a:p>
            <a:pPr marL="0" marR="0" lvl="0" indent="0" algn="l" rtl="0">
              <a:lnSpc>
                <a:spcPct val="108437"/>
              </a:lnSpc>
              <a:spcBef>
                <a:spcPts val="0"/>
              </a:spcBef>
              <a:spcAft>
                <a:spcPts val="0"/>
              </a:spcAft>
              <a:buNone/>
            </a:pPr>
            <a:r>
              <a:rPr lang="en-US" sz="3200" b="1">
                <a:solidFill>
                  <a:srgbClr val="000000"/>
                </a:solidFill>
                <a:latin typeface="Times New Roman"/>
                <a:ea typeface="Times New Roman"/>
                <a:cs typeface="Times New Roman"/>
                <a:sym typeface="Times New Roman"/>
              </a:rPr>
              <a:t>Technical Architectural</a:t>
            </a:r>
            <a:endParaRPr/>
          </a:p>
        </p:txBody>
      </p:sp>
      <p:sp>
        <p:nvSpPr>
          <p:cNvPr id="141" name="Google Shape;141;p19"/>
          <p:cNvSpPr/>
          <p:nvPr/>
        </p:nvSpPr>
        <p:spPr>
          <a:xfrm flipH="1">
            <a:off x="425394" y="1526650"/>
            <a:ext cx="8293211" cy="3419061"/>
          </a:xfrm>
          <a:prstGeom prst="rect">
            <a:avLst/>
          </a:prstGeom>
          <a:noFill/>
          <a:ln>
            <a:noFill/>
          </a:ln>
        </p:spPr>
        <p:txBody>
          <a:bodyPr spcFirstLastPara="1" wrap="square" lIns="91425" tIns="45700" rIns="91425" bIns="45700" anchor="ctr" anchorCtr="0">
            <a:noAutofit/>
          </a:bodyPr>
          <a:lstStyle/>
          <a:p>
            <a:pPr lvl="0" indent="-152400" algn="just">
              <a:buClr>
                <a:schemeClr val="dk1"/>
              </a:buClr>
              <a:buSzPts val="2400"/>
              <a:buFont typeface="Times New Roman"/>
              <a:buChar char="•"/>
            </a:pPr>
            <a:endParaRPr lang="en-US" sz="1600" b="1" dirty="0" smtClean="0">
              <a:solidFill>
                <a:schemeClr val="dk1"/>
              </a:solidFill>
              <a:latin typeface="Times New Roman"/>
              <a:ea typeface="Times New Roman"/>
              <a:cs typeface="Times New Roman"/>
              <a:sym typeface="Times New Roman"/>
            </a:endParaRPr>
          </a:p>
          <a:p>
            <a:pPr lvl="0" indent="-152400" algn="just">
              <a:buClr>
                <a:schemeClr val="dk1"/>
              </a:buClr>
              <a:buSzPts val="2400"/>
              <a:buFont typeface="Times New Roman"/>
              <a:buChar char="•"/>
            </a:pPr>
            <a:endParaRPr lang="en-US" sz="1600" b="1" dirty="0">
              <a:solidFill>
                <a:schemeClr val="dk1"/>
              </a:solidFill>
              <a:latin typeface="Times New Roman"/>
              <a:ea typeface="Times New Roman"/>
              <a:cs typeface="Times New Roman"/>
              <a:sym typeface="Times New Roman"/>
            </a:endParaRPr>
          </a:p>
          <a:p>
            <a:pPr lvl="0" indent="-152400" algn="just">
              <a:buClr>
                <a:schemeClr val="dk1"/>
              </a:buClr>
              <a:buSzPts val="2400"/>
              <a:buFont typeface="Times New Roman"/>
              <a:buChar char="•"/>
            </a:pPr>
            <a:endParaRPr lang="en-US" sz="1600" b="1" dirty="0" smtClean="0">
              <a:solidFill>
                <a:schemeClr val="dk1"/>
              </a:solidFill>
              <a:latin typeface="Times New Roman"/>
              <a:ea typeface="Times New Roman"/>
              <a:cs typeface="Times New Roman"/>
              <a:sym typeface="Times New Roman"/>
            </a:endParaRPr>
          </a:p>
          <a:p>
            <a:pPr lvl="0" indent="-152400" algn="just">
              <a:buClr>
                <a:schemeClr val="dk1"/>
              </a:buClr>
              <a:buSzPts val="2400"/>
              <a:buFont typeface="Times New Roman"/>
              <a:buChar char="•"/>
            </a:pPr>
            <a:r>
              <a:rPr lang="en-US" b="1" dirty="0" smtClean="0">
                <a:solidFill>
                  <a:schemeClr val="dk1"/>
                </a:solidFill>
                <a:latin typeface="Times New Roman"/>
                <a:ea typeface="Times New Roman"/>
                <a:cs typeface="Times New Roman"/>
                <a:sym typeface="Times New Roman"/>
              </a:rPr>
              <a:t>Data </a:t>
            </a:r>
            <a:r>
              <a:rPr lang="en-US" b="1" dirty="0">
                <a:solidFill>
                  <a:schemeClr val="dk1"/>
                </a:solidFill>
                <a:latin typeface="Times New Roman"/>
                <a:ea typeface="Times New Roman"/>
                <a:cs typeface="Times New Roman"/>
                <a:sym typeface="Times New Roman"/>
              </a:rPr>
              <a:t>Collection </a:t>
            </a:r>
            <a:r>
              <a:rPr lang="en-US" b="1" dirty="0" smtClean="0">
                <a:solidFill>
                  <a:schemeClr val="dk1"/>
                </a:solidFill>
                <a:latin typeface="Times New Roman"/>
                <a:ea typeface="Times New Roman"/>
                <a:cs typeface="Times New Roman"/>
                <a:sym typeface="Times New Roman"/>
              </a:rPr>
              <a:t>Layer:</a:t>
            </a:r>
            <a:r>
              <a:rPr lang="en-US" dirty="0" smtClean="0">
                <a:solidFill>
                  <a:schemeClr val="dk1"/>
                </a:solidFill>
                <a:latin typeface="Times New Roman"/>
                <a:ea typeface="Times New Roman"/>
                <a:cs typeface="Times New Roman"/>
                <a:sym typeface="Times New Roman"/>
              </a:rPr>
              <a:t> Heart </a:t>
            </a:r>
            <a:r>
              <a:rPr lang="en-US" dirty="0">
                <a:solidFill>
                  <a:schemeClr val="dk1"/>
                </a:solidFill>
                <a:latin typeface="Times New Roman"/>
                <a:ea typeface="Times New Roman"/>
                <a:cs typeface="Times New Roman"/>
                <a:sym typeface="Times New Roman"/>
              </a:rPr>
              <a:t>disease dataset collected from sources like </a:t>
            </a:r>
            <a:r>
              <a:rPr lang="en-US" dirty="0" err="1">
                <a:solidFill>
                  <a:schemeClr val="dk1"/>
                </a:solidFill>
                <a:latin typeface="Times New Roman"/>
                <a:ea typeface="Times New Roman"/>
                <a:cs typeface="Times New Roman"/>
                <a:sym typeface="Times New Roman"/>
              </a:rPr>
              <a:t>Kaggle</a:t>
            </a:r>
            <a:r>
              <a:rPr lang="en-US" dirty="0">
                <a:solidFill>
                  <a:schemeClr val="dk1"/>
                </a:solidFill>
                <a:latin typeface="Times New Roman"/>
                <a:ea typeface="Times New Roman"/>
                <a:cs typeface="Times New Roman"/>
                <a:sym typeface="Times New Roman"/>
              </a:rPr>
              <a:t>, containing health parameters of </a:t>
            </a:r>
            <a:r>
              <a:rPr lang="en-US" dirty="0" smtClean="0">
                <a:solidFill>
                  <a:schemeClr val="dk1"/>
                </a:solidFill>
                <a:latin typeface="Times New Roman"/>
                <a:ea typeface="Times New Roman"/>
                <a:cs typeface="Times New Roman"/>
                <a:sym typeface="Times New Roman"/>
              </a:rPr>
              <a:t>patients.</a:t>
            </a:r>
          </a:p>
          <a:p>
            <a:pPr lvl="0" indent="-152400" algn="just">
              <a:buClr>
                <a:schemeClr val="dk1"/>
              </a:buClr>
              <a:buSzPts val="2400"/>
              <a:buFont typeface="Times New Roman"/>
              <a:buChar char="•"/>
            </a:pPr>
            <a:endParaRPr lang="en-US" dirty="0">
              <a:solidFill>
                <a:schemeClr val="dk1"/>
              </a:solidFill>
              <a:latin typeface="Times New Roman"/>
              <a:ea typeface="Times New Roman"/>
              <a:cs typeface="Times New Roman"/>
              <a:sym typeface="Times New Roman"/>
            </a:endParaRPr>
          </a:p>
          <a:p>
            <a:pPr lvl="0" indent="-152400" algn="just">
              <a:buClr>
                <a:schemeClr val="dk1"/>
              </a:buClr>
              <a:buSzPts val="2400"/>
              <a:buFont typeface="Times New Roman"/>
              <a:buChar char="•"/>
            </a:pPr>
            <a:r>
              <a:rPr lang="en-US" b="1" dirty="0">
                <a:solidFill>
                  <a:schemeClr val="dk1"/>
                </a:solidFill>
                <a:latin typeface="Times New Roman"/>
                <a:ea typeface="Times New Roman"/>
                <a:cs typeface="Times New Roman"/>
                <a:sym typeface="Times New Roman"/>
              </a:rPr>
              <a:t>Data Preprocessing </a:t>
            </a:r>
            <a:r>
              <a:rPr lang="en-US" b="1" dirty="0" smtClean="0">
                <a:solidFill>
                  <a:schemeClr val="dk1"/>
                </a:solidFill>
                <a:latin typeface="Times New Roman"/>
                <a:ea typeface="Times New Roman"/>
                <a:cs typeface="Times New Roman"/>
                <a:sym typeface="Times New Roman"/>
              </a:rPr>
              <a:t>Layer: </a:t>
            </a:r>
            <a:r>
              <a:rPr lang="en-US" dirty="0" smtClean="0">
                <a:solidFill>
                  <a:schemeClr val="dk1"/>
                </a:solidFill>
                <a:latin typeface="Times New Roman"/>
                <a:ea typeface="Times New Roman"/>
                <a:cs typeface="Times New Roman"/>
                <a:sym typeface="Times New Roman"/>
              </a:rPr>
              <a:t>Data </a:t>
            </a:r>
            <a:r>
              <a:rPr lang="en-US" dirty="0">
                <a:solidFill>
                  <a:schemeClr val="dk1"/>
                </a:solidFill>
                <a:latin typeface="Times New Roman"/>
                <a:ea typeface="Times New Roman"/>
                <a:cs typeface="Times New Roman"/>
                <a:sym typeface="Times New Roman"/>
              </a:rPr>
              <a:t>cleaning, handling missing data, removing outliers, normalization, and feature </a:t>
            </a:r>
            <a:r>
              <a:rPr lang="en-US" dirty="0" smtClean="0">
                <a:solidFill>
                  <a:schemeClr val="dk1"/>
                </a:solidFill>
                <a:latin typeface="Times New Roman"/>
                <a:ea typeface="Times New Roman"/>
                <a:cs typeface="Times New Roman"/>
                <a:sym typeface="Times New Roman"/>
              </a:rPr>
              <a:t>selection.</a:t>
            </a:r>
          </a:p>
          <a:p>
            <a:pPr lvl="0" indent="-152400" algn="just">
              <a:buClr>
                <a:schemeClr val="dk1"/>
              </a:buClr>
              <a:buSzPts val="2400"/>
              <a:buFont typeface="Times New Roman"/>
              <a:buChar char="•"/>
            </a:pPr>
            <a:endParaRPr lang="en-US" dirty="0">
              <a:solidFill>
                <a:schemeClr val="dk1"/>
              </a:solidFill>
              <a:latin typeface="Times New Roman"/>
              <a:ea typeface="Times New Roman"/>
              <a:cs typeface="Times New Roman"/>
              <a:sym typeface="Times New Roman"/>
            </a:endParaRPr>
          </a:p>
          <a:p>
            <a:pPr lvl="0" indent="-152400" algn="just">
              <a:buClr>
                <a:schemeClr val="dk1"/>
              </a:buClr>
              <a:buSzPts val="2400"/>
              <a:buFont typeface="Times New Roman"/>
              <a:buChar char="•"/>
            </a:pPr>
            <a:r>
              <a:rPr lang="en-US" b="1" dirty="0">
                <a:solidFill>
                  <a:schemeClr val="dk1"/>
                </a:solidFill>
                <a:latin typeface="Times New Roman"/>
                <a:ea typeface="Times New Roman"/>
                <a:cs typeface="Times New Roman"/>
                <a:sym typeface="Times New Roman"/>
              </a:rPr>
              <a:t>Data </a:t>
            </a:r>
            <a:r>
              <a:rPr lang="en-US" b="1" dirty="0" smtClean="0">
                <a:solidFill>
                  <a:schemeClr val="dk1"/>
                </a:solidFill>
                <a:latin typeface="Times New Roman"/>
                <a:ea typeface="Times New Roman"/>
                <a:cs typeface="Times New Roman"/>
                <a:sym typeface="Times New Roman"/>
              </a:rPr>
              <a:t>Splitting: </a:t>
            </a:r>
            <a:r>
              <a:rPr lang="en-US" dirty="0" smtClean="0">
                <a:solidFill>
                  <a:schemeClr val="dk1"/>
                </a:solidFill>
                <a:latin typeface="Times New Roman"/>
                <a:ea typeface="Times New Roman"/>
                <a:cs typeface="Times New Roman"/>
                <a:sym typeface="Times New Roman"/>
              </a:rPr>
              <a:t>Dataset </a:t>
            </a:r>
            <a:r>
              <a:rPr lang="en-US" dirty="0">
                <a:solidFill>
                  <a:schemeClr val="dk1"/>
                </a:solidFill>
                <a:latin typeface="Times New Roman"/>
                <a:ea typeface="Times New Roman"/>
                <a:cs typeface="Times New Roman"/>
                <a:sym typeface="Times New Roman"/>
              </a:rPr>
              <a:t>split into training and testing sets, with 80% for training and 20% for testing using the hold-out </a:t>
            </a:r>
            <a:r>
              <a:rPr lang="en-US" dirty="0" smtClean="0">
                <a:solidFill>
                  <a:schemeClr val="dk1"/>
                </a:solidFill>
                <a:latin typeface="Times New Roman"/>
                <a:ea typeface="Times New Roman"/>
                <a:cs typeface="Times New Roman"/>
                <a:sym typeface="Times New Roman"/>
              </a:rPr>
              <a:t>method.</a:t>
            </a:r>
          </a:p>
          <a:p>
            <a:pPr lvl="0" indent="-152400" algn="just">
              <a:buClr>
                <a:schemeClr val="dk1"/>
              </a:buClr>
              <a:buSzPts val="2400"/>
              <a:buFont typeface="Times New Roman"/>
              <a:buChar char="•"/>
            </a:pPr>
            <a:endParaRPr lang="en-US" dirty="0">
              <a:solidFill>
                <a:schemeClr val="dk1"/>
              </a:solidFill>
              <a:latin typeface="Times New Roman"/>
              <a:ea typeface="Times New Roman"/>
              <a:cs typeface="Times New Roman"/>
              <a:sym typeface="Times New Roman"/>
            </a:endParaRPr>
          </a:p>
          <a:p>
            <a:pPr lvl="0" indent="-152400" algn="just">
              <a:buClr>
                <a:schemeClr val="dk1"/>
              </a:buClr>
              <a:buSzPts val="2400"/>
              <a:buFont typeface="Times New Roman"/>
              <a:buChar char="•"/>
            </a:pPr>
            <a:r>
              <a:rPr lang="en-US" b="1" dirty="0">
                <a:solidFill>
                  <a:schemeClr val="dk1"/>
                </a:solidFill>
                <a:latin typeface="Times New Roman"/>
                <a:ea typeface="Times New Roman"/>
                <a:cs typeface="Times New Roman"/>
                <a:sym typeface="Times New Roman"/>
              </a:rPr>
              <a:t>Model Building </a:t>
            </a:r>
            <a:r>
              <a:rPr lang="en-US" b="1" dirty="0" smtClean="0">
                <a:solidFill>
                  <a:schemeClr val="dk1"/>
                </a:solidFill>
                <a:latin typeface="Times New Roman"/>
                <a:ea typeface="Times New Roman"/>
                <a:cs typeface="Times New Roman"/>
                <a:sym typeface="Times New Roman"/>
              </a:rPr>
              <a:t>Layer: </a:t>
            </a:r>
            <a:r>
              <a:rPr lang="en-US" dirty="0" smtClean="0">
                <a:solidFill>
                  <a:schemeClr val="dk1"/>
                </a:solidFill>
                <a:latin typeface="Times New Roman"/>
                <a:ea typeface="Times New Roman"/>
                <a:cs typeface="Times New Roman"/>
                <a:sym typeface="Times New Roman"/>
              </a:rPr>
              <a:t>Implementation </a:t>
            </a:r>
            <a:r>
              <a:rPr lang="en-US" dirty="0">
                <a:solidFill>
                  <a:schemeClr val="dk1"/>
                </a:solidFill>
                <a:latin typeface="Times New Roman"/>
                <a:ea typeface="Times New Roman"/>
                <a:cs typeface="Times New Roman"/>
                <a:sym typeface="Times New Roman"/>
              </a:rPr>
              <a:t>of machine learning algorithms like Logistic Regression, KNN, Random </a:t>
            </a:r>
            <a:r>
              <a:rPr lang="en-US" dirty="0" smtClean="0">
                <a:solidFill>
                  <a:schemeClr val="dk1"/>
                </a:solidFill>
                <a:latin typeface="Times New Roman"/>
                <a:ea typeface="Times New Roman"/>
                <a:cs typeface="Times New Roman"/>
                <a:sym typeface="Times New Roman"/>
              </a:rPr>
              <a:t>Forest.</a:t>
            </a:r>
          </a:p>
          <a:p>
            <a:pPr lvl="0" indent="-152400" algn="just">
              <a:buClr>
                <a:schemeClr val="dk1"/>
              </a:buClr>
              <a:buSzPts val="2400"/>
              <a:buFont typeface="Times New Roman"/>
              <a:buChar char="•"/>
            </a:pPr>
            <a:endParaRPr lang="en-US" dirty="0">
              <a:solidFill>
                <a:schemeClr val="dk1"/>
              </a:solidFill>
              <a:latin typeface="Times New Roman"/>
              <a:ea typeface="Times New Roman"/>
              <a:cs typeface="Times New Roman"/>
              <a:sym typeface="Times New Roman"/>
            </a:endParaRPr>
          </a:p>
          <a:p>
            <a:pPr lvl="0" indent="-152400" algn="just">
              <a:buClr>
                <a:schemeClr val="dk1"/>
              </a:buClr>
              <a:buSzPts val="2400"/>
              <a:buFont typeface="Times New Roman"/>
              <a:buChar char="•"/>
            </a:pPr>
            <a:r>
              <a:rPr lang="en-US" b="1" dirty="0">
                <a:solidFill>
                  <a:schemeClr val="dk1"/>
                </a:solidFill>
                <a:latin typeface="Times New Roman"/>
                <a:ea typeface="Times New Roman"/>
                <a:cs typeface="Times New Roman"/>
                <a:sym typeface="Times New Roman"/>
              </a:rPr>
              <a:t>Training &amp; Testing </a:t>
            </a:r>
            <a:r>
              <a:rPr lang="en-US" b="1" dirty="0" smtClean="0">
                <a:solidFill>
                  <a:schemeClr val="dk1"/>
                </a:solidFill>
                <a:latin typeface="Times New Roman"/>
                <a:ea typeface="Times New Roman"/>
                <a:cs typeface="Times New Roman"/>
                <a:sym typeface="Times New Roman"/>
              </a:rPr>
              <a:t>Layer: </a:t>
            </a:r>
            <a:r>
              <a:rPr lang="en-US" dirty="0" smtClean="0">
                <a:solidFill>
                  <a:schemeClr val="dk1"/>
                </a:solidFill>
                <a:latin typeface="Times New Roman"/>
                <a:ea typeface="Times New Roman"/>
                <a:cs typeface="Times New Roman"/>
                <a:sym typeface="Times New Roman"/>
              </a:rPr>
              <a:t>Implementation </a:t>
            </a:r>
            <a:r>
              <a:rPr lang="en-US" dirty="0">
                <a:solidFill>
                  <a:schemeClr val="dk1"/>
                </a:solidFill>
                <a:latin typeface="Times New Roman"/>
                <a:ea typeface="Times New Roman"/>
                <a:cs typeface="Times New Roman"/>
                <a:sym typeface="Times New Roman"/>
              </a:rPr>
              <a:t>of machine learning algorithms to train and test the </a:t>
            </a:r>
            <a:r>
              <a:rPr lang="en-US" dirty="0" smtClean="0">
                <a:solidFill>
                  <a:schemeClr val="dk1"/>
                </a:solidFill>
                <a:latin typeface="Times New Roman"/>
                <a:ea typeface="Times New Roman"/>
                <a:cs typeface="Times New Roman"/>
                <a:sym typeface="Times New Roman"/>
              </a:rPr>
              <a:t>model.</a:t>
            </a:r>
          </a:p>
          <a:p>
            <a:pPr lvl="0" indent="-152400" algn="just">
              <a:buClr>
                <a:schemeClr val="dk1"/>
              </a:buClr>
              <a:buSzPts val="2400"/>
              <a:buFont typeface="Times New Roman"/>
              <a:buChar char="•"/>
            </a:pPr>
            <a:endParaRPr lang="en-US" dirty="0">
              <a:solidFill>
                <a:schemeClr val="dk1"/>
              </a:solidFill>
              <a:latin typeface="Times New Roman"/>
              <a:ea typeface="Times New Roman"/>
              <a:cs typeface="Times New Roman"/>
              <a:sym typeface="Times New Roman"/>
            </a:endParaRPr>
          </a:p>
          <a:p>
            <a:pPr lvl="0" indent="-152400" algn="just">
              <a:buClr>
                <a:schemeClr val="dk1"/>
              </a:buClr>
              <a:buSzPts val="2400"/>
              <a:buFont typeface="Times New Roman"/>
              <a:buChar char="•"/>
            </a:pPr>
            <a:r>
              <a:rPr lang="en-US" b="1" dirty="0">
                <a:solidFill>
                  <a:schemeClr val="dk1"/>
                </a:solidFill>
                <a:latin typeface="Times New Roman"/>
                <a:ea typeface="Times New Roman"/>
                <a:cs typeface="Times New Roman"/>
                <a:sym typeface="Times New Roman"/>
              </a:rPr>
              <a:t>Evaluation </a:t>
            </a:r>
            <a:r>
              <a:rPr lang="en-US" b="1" dirty="0" smtClean="0">
                <a:solidFill>
                  <a:schemeClr val="dk1"/>
                </a:solidFill>
                <a:latin typeface="Times New Roman"/>
                <a:ea typeface="Times New Roman"/>
                <a:cs typeface="Times New Roman"/>
                <a:sym typeface="Times New Roman"/>
              </a:rPr>
              <a:t>Layer: </a:t>
            </a:r>
            <a:r>
              <a:rPr lang="en-US" dirty="0" smtClean="0">
                <a:solidFill>
                  <a:schemeClr val="dk1"/>
                </a:solidFill>
                <a:latin typeface="Times New Roman"/>
                <a:ea typeface="Times New Roman"/>
                <a:cs typeface="Times New Roman"/>
                <a:sym typeface="Times New Roman"/>
              </a:rPr>
              <a:t>Evaluation </a:t>
            </a:r>
            <a:r>
              <a:rPr lang="en-US" dirty="0">
                <a:solidFill>
                  <a:schemeClr val="dk1"/>
                </a:solidFill>
                <a:latin typeface="Times New Roman"/>
                <a:ea typeface="Times New Roman"/>
                <a:cs typeface="Times New Roman"/>
                <a:sym typeface="Times New Roman"/>
              </a:rPr>
              <a:t>of the model using metrics like accuracy, precision, recall, and F1 </a:t>
            </a:r>
            <a:r>
              <a:rPr lang="en-US" dirty="0" smtClean="0">
                <a:solidFill>
                  <a:schemeClr val="dk1"/>
                </a:solidFill>
                <a:latin typeface="Times New Roman"/>
                <a:ea typeface="Times New Roman"/>
                <a:cs typeface="Times New Roman"/>
                <a:sym typeface="Times New Roman"/>
              </a:rPr>
              <a:t>score.</a:t>
            </a:r>
          </a:p>
          <a:p>
            <a:pPr lvl="0" indent="-152400" algn="just">
              <a:buClr>
                <a:schemeClr val="dk1"/>
              </a:buClr>
              <a:buSzPts val="2400"/>
              <a:buFont typeface="Times New Roman"/>
              <a:buChar char="•"/>
            </a:pPr>
            <a:endParaRPr lang="en-US" dirty="0">
              <a:solidFill>
                <a:schemeClr val="dk1"/>
              </a:solidFill>
              <a:latin typeface="Times New Roman"/>
              <a:ea typeface="Times New Roman"/>
              <a:cs typeface="Times New Roman"/>
              <a:sym typeface="Times New Roman"/>
            </a:endParaRPr>
          </a:p>
          <a:p>
            <a:pPr lvl="0" indent="-152400" algn="just">
              <a:buClr>
                <a:schemeClr val="dk1"/>
              </a:buClr>
              <a:buSzPts val="2400"/>
              <a:buFont typeface="Times New Roman"/>
              <a:buChar char="•"/>
            </a:pPr>
            <a:r>
              <a:rPr lang="en-US" b="1" dirty="0">
                <a:solidFill>
                  <a:schemeClr val="dk1"/>
                </a:solidFill>
                <a:latin typeface="Times New Roman"/>
                <a:ea typeface="Times New Roman"/>
                <a:cs typeface="Times New Roman"/>
                <a:sym typeface="Times New Roman"/>
              </a:rPr>
              <a:t>Prediction </a:t>
            </a:r>
            <a:r>
              <a:rPr lang="en-US" b="1" dirty="0" smtClean="0">
                <a:solidFill>
                  <a:schemeClr val="dk1"/>
                </a:solidFill>
                <a:latin typeface="Times New Roman"/>
                <a:ea typeface="Times New Roman"/>
                <a:cs typeface="Times New Roman"/>
                <a:sym typeface="Times New Roman"/>
              </a:rPr>
              <a:t>Layer: </a:t>
            </a:r>
            <a:r>
              <a:rPr lang="en-US" dirty="0" smtClean="0">
                <a:solidFill>
                  <a:schemeClr val="dk1"/>
                </a:solidFill>
                <a:latin typeface="Times New Roman"/>
                <a:ea typeface="Times New Roman"/>
                <a:cs typeface="Times New Roman"/>
                <a:sym typeface="Times New Roman"/>
              </a:rPr>
              <a:t>Implementation </a:t>
            </a:r>
            <a:r>
              <a:rPr lang="en-US" dirty="0">
                <a:solidFill>
                  <a:schemeClr val="dk1"/>
                </a:solidFill>
                <a:latin typeface="Times New Roman"/>
                <a:ea typeface="Times New Roman"/>
                <a:cs typeface="Times New Roman"/>
                <a:sym typeface="Times New Roman"/>
              </a:rPr>
              <a:t>of the final model, which is Logistic Regression to predict whether the patient has heart disease or </a:t>
            </a:r>
            <a:r>
              <a:rPr lang="en-US" dirty="0" smtClean="0">
                <a:solidFill>
                  <a:schemeClr val="dk1"/>
                </a:solidFill>
                <a:latin typeface="Times New Roman"/>
                <a:ea typeface="Times New Roman"/>
                <a:cs typeface="Times New Roman"/>
                <a:sym typeface="Times New Roman"/>
              </a:rPr>
              <a:t>not.</a:t>
            </a:r>
          </a:p>
          <a:p>
            <a:pPr lvl="0" indent="-152400" algn="just">
              <a:buClr>
                <a:schemeClr val="dk1"/>
              </a:buClr>
              <a:buSzPts val="2400"/>
              <a:buFont typeface="Times New Roman"/>
              <a:buChar char="•"/>
            </a:pPr>
            <a:endParaRPr lang="en-US" dirty="0">
              <a:solidFill>
                <a:schemeClr val="dk1"/>
              </a:solidFill>
              <a:latin typeface="Times New Roman"/>
              <a:ea typeface="Times New Roman"/>
              <a:cs typeface="Times New Roman"/>
              <a:sym typeface="Times New Roman"/>
            </a:endParaRPr>
          </a:p>
          <a:p>
            <a:pPr lvl="0" indent="-152400" algn="just">
              <a:buClr>
                <a:schemeClr val="dk1"/>
              </a:buClr>
              <a:buSzPts val="2400"/>
              <a:buFont typeface="Times New Roman"/>
              <a:buChar char="•"/>
            </a:pPr>
            <a:r>
              <a:rPr lang="en-US" b="1" dirty="0">
                <a:solidFill>
                  <a:schemeClr val="dk1"/>
                </a:solidFill>
                <a:latin typeface="Times New Roman"/>
                <a:ea typeface="Times New Roman"/>
                <a:cs typeface="Times New Roman"/>
                <a:sym typeface="Times New Roman"/>
              </a:rPr>
              <a:t>Output </a:t>
            </a:r>
            <a:r>
              <a:rPr lang="en-US" b="1" dirty="0" smtClean="0">
                <a:solidFill>
                  <a:schemeClr val="dk1"/>
                </a:solidFill>
                <a:latin typeface="Times New Roman"/>
                <a:ea typeface="Times New Roman"/>
                <a:cs typeface="Times New Roman"/>
                <a:sym typeface="Times New Roman"/>
              </a:rPr>
              <a:t>Layer: </a:t>
            </a:r>
            <a:r>
              <a:rPr lang="en-US" dirty="0" smtClean="0">
                <a:solidFill>
                  <a:schemeClr val="dk1"/>
                </a:solidFill>
                <a:latin typeface="Times New Roman"/>
                <a:ea typeface="Times New Roman"/>
                <a:cs typeface="Times New Roman"/>
                <a:sym typeface="Times New Roman"/>
              </a:rPr>
              <a:t>Result </a:t>
            </a:r>
            <a:r>
              <a:rPr lang="en-US" dirty="0">
                <a:solidFill>
                  <a:schemeClr val="dk1"/>
                </a:solidFill>
                <a:latin typeface="Times New Roman"/>
                <a:ea typeface="Times New Roman"/>
                <a:cs typeface="Times New Roman"/>
                <a:sym typeface="Times New Roman"/>
              </a:rPr>
              <a:t>displayed to help doctors in </a:t>
            </a:r>
            <a:r>
              <a:rPr lang="en-US" dirty="0" smtClean="0">
                <a:solidFill>
                  <a:schemeClr val="dk1"/>
                </a:solidFill>
                <a:latin typeface="Times New Roman"/>
                <a:ea typeface="Times New Roman"/>
                <a:cs typeface="Times New Roman"/>
                <a:sym typeface="Times New Roman"/>
              </a:rPr>
              <a:t>decision-making.</a:t>
            </a:r>
            <a:endParaRPr i="0" u="none" strike="noStrike" cap="none" dirty="0">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dirty="0"/>
          </a:p>
          <a:p>
            <a:pPr marL="0" marR="0" lvl="0" indent="0" algn="l" rtl="0">
              <a:lnSpc>
                <a:spcPct val="100000"/>
              </a:lnSpc>
              <a:spcBef>
                <a:spcPts val="0"/>
              </a:spcBef>
              <a:spcAft>
                <a:spcPts val="0"/>
              </a:spcAft>
              <a:buClr>
                <a:schemeClr val="dk1"/>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0"/>
          <p:cNvSpPr txBox="1"/>
          <p:nvPr/>
        </p:nvSpPr>
        <p:spPr>
          <a:xfrm>
            <a:off x="260160" y="108209"/>
            <a:ext cx="6019560" cy="83772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r>
              <a:rPr lang="en-US" sz="3200" b="1">
                <a:solidFill>
                  <a:schemeClr val="dk1"/>
                </a:solidFill>
                <a:latin typeface="Times New Roman"/>
                <a:ea typeface="Times New Roman"/>
                <a:cs typeface="Times New Roman"/>
                <a:sym typeface="Times New Roman"/>
              </a:rPr>
              <a:t>Literature Review</a:t>
            </a:r>
            <a:endParaRPr sz="3200">
              <a:solidFill>
                <a:schemeClr val="dk1"/>
              </a:solidFill>
              <a:latin typeface="Calibri"/>
              <a:ea typeface="Calibri"/>
              <a:cs typeface="Calibri"/>
              <a:sym typeface="Calibri"/>
            </a:endParaRPr>
          </a:p>
        </p:txBody>
      </p:sp>
      <p:sp>
        <p:nvSpPr>
          <p:cNvPr id="147" name="Google Shape;147;p20"/>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strike="noStrike">
                <a:solidFill>
                  <a:srgbClr val="000000"/>
                </a:solidFill>
                <a:latin typeface="Calibri"/>
                <a:ea typeface="Calibri"/>
                <a:cs typeface="Calibri"/>
                <a:sym typeface="Calibri"/>
              </a:rPr>
              <a:t>7</a:t>
            </a:fld>
            <a:endParaRPr sz="1200" b="0" strike="noStrike">
              <a:solidFill>
                <a:schemeClr val="dk1"/>
              </a:solidFill>
              <a:latin typeface="Times New Roman"/>
              <a:ea typeface="Times New Roman"/>
              <a:cs typeface="Times New Roman"/>
              <a:sym typeface="Times New Roman"/>
            </a:endParaRPr>
          </a:p>
        </p:txBody>
      </p:sp>
      <p:sp>
        <p:nvSpPr>
          <p:cNvPr id="148" name="Google Shape;148;p20"/>
          <p:cNvSpPr txBox="1"/>
          <p:nvPr/>
        </p:nvSpPr>
        <p:spPr>
          <a:xfrm>
            <a:off x="61561" y="4076440"/>
            <a:ext cx="8573808" cy="556311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900" b="1" strike="noStrike">
              <a:solidFill>
                <a:srgbClr val="000000"/>
              </a:solidFill>
              <a:latin typeface="Calibri"/>
              <a:ea typeface="Calibri"/>
              <a:cs typeface="Calibri"/>
              <a:sym typeface="Calibri"/>
            </a:endParaRPr>
          </a:p>
        </p:txBody>
      </p:sp>
      <p:sp>
        <p:nvSpPr>
          <p:cNvPr id="149" name="Google Shape;149;p20"/>
          <p:cNvSpPr/>
          <p:nvPr/>
        </p:nvSpPr>
        <p:spPr>
          <a:xfrm>
            <a:off x="61561" y="330275"/>
            <a:ext cx="8398800" cy="4361820"/>
          </a:xfrm>
          <a:prstGeom prst="rect">
            <a:avLst/>
          </a:prstGeom>
          <a:noFill/>
          <a:ln>
            <a:noFill/>
          </a:ln>
        </p:spPr>
        <p:txBody>
          <a:bodyPr spcFirstLastPara="1" wrap="square" lIns="91425" tIns="45700" rIns="91425" bIns="45700" anchor="ctr" anchorCtr="0">
            <a:noAutofit/>
          </a:bodyPr>
          <a:lstStyle/>
          <a:p>
            <a:pPr marL="457200" lvl="0" indent="-419100" algn="just">
              <a:buClr>
                <a:schemeClr val="dk1"/>
              </a:buClr>
              <a:buSzPts val="3000"/>
              <a:buChar char="•"/>
            </a:pPr>
            <a:r>
              <a:rPr lang="en-US" dirty="0" smtClean="0">
                <a:solidFill>
                  <a:schemeClr val="dk1"/>
                </a:solidFill>
                <a:latin typeface="Times New Roman" panose="02020603050405020304" pitchFamily="18" charset="0"/>
                <a:cs typeface="Times New Roman" panose="02020603050405020304" pitchFamily="18" charset="0"/>
              </a:rPr>
              <a:t>Several studies have been conducted to improve the prediction of heart disease by utilizing machine learning algorithms. </a:t>
            </a:r>
            <a:r>
              <a:rPr lang="en-US" dirty="0" err="1" smtClean="0">
                <a:solidFill>
                  <a:schemeClr val="dk1"/>
                </a:solidFill>
                <a:latin typeface="Times New Roman" panose="02020603050405020304" pitchFamily="18" charset="0"/>
                <a:cs typeface="Times New Roman" panose="02020603050405020304" pitchFamily="18" charset="0"/>
              </a:rPr>
              <a:t>Purushottam</a:t>
            </a:r>
            <a:r>
              <a:rPr lang="en-US" dirty="0" smtClean="0">
                <a:solidFill>
                  <a:schemeClr val="dk1"/>
                </a:solidFill>
                <a:latin typeface="Times New Roman" panose="02020603050405020304" pitchFamily="18" charset="0"/>
                <a:cs typeface="Times New Roman" panose="02020603050405020304" pitchFamily="18" charset="0"/>
              </a:rPr>
              <a:t> et al. were one of the researchers who used Decision Tree algorithms to predict heart disease. This study showed an accuracy of about 86.7%. This proved the efficiency of data mining algorithms in healthcare. Santana Krishnan J. et al. conducted another study in which Decision Tree algorithms were compared with Naive Bayes. Decision Tree algorithms were found more efficient in terms of accuracy, which was 91%. This proved the significance of choosing algorithms in data mining.</a:t>
            </a:r>
          </a:p>
          <a:p>
            <a:pPr marL="457200" lvl="0" indent="-419100" algn="just">
              <a:buClr>
                <a:schemeClr val="dk1"/>
              </a:buClr>
              <a:buSzPts val="3000"/>
              <a:buChar char="•"/>
            </a:pPr>
            <a:endParaRPr lang="en-US" dirty="0" smtClean="0">
              <a:solidFill>
                <a:schemeClr val="dk1"/>
              </a:solidFill>
              <a:latin typeface="Times New Roman" panose="02020603050405020304" pitchFamily="18" charset="0"/>
              <a:cs typeface="Times New Roman" panose="02020603050405020304" pitchFamily="18" charset="0"/>
            </a:endParaRPr>
          </a:p>
          <a:p>
            <a:pPr marL="457200" lvl="0" indent="-419100" algn="just">
              <a:buClr>
                <a:schemeClr val="dk1"/>
              </a:buClr>
              <a:buSzPts val="3000"/>
              <a:buChar char="•"/>
            </a:pPr>
            <a:r>
              <a:rPr lang="en-US" dirty="0" smtClean="0">
                <a:solidFill>
                  <a:schemeClr val="dk1"/>
                </a:solidFill>
                <a:latin typeface="Times New Roman" panose="02020603050405020304" pitchFamily="18" charset="0"/>
                <a:cs typeface="Times New Roman" panose="02020603050405020304" pitchFamily="18" charset="0"/>
              </a:rPr>
              <a:t>Further studies were conducted on more efficient algorithms such as Multilayer Perceptron (MLP) and K-Nearest Neighbors (KNN) to increase the accuracy of results. </a:t>
            </a:r>
            <a:r>
              <a:rPr lang="en-US" dirty="0" err="1" smtClean="0">
                <a:solidFill>
                  <a:schemeClr val="dk1"/>
                </a:solidFill>
                <a:latin typeface="Times New Roman" panose="02020603050405020304" pitchFamily="18" charset="0"/>
                <a:cs typeface="Times New Roman" panose="02020603050405020304" pitchFamily="18" charset="0"/>
              </a:rPr>
              <a:t>Senthil</a:t>
            </a:r>
            <a:r>
              <a:rPr lang="en-US" dirty="0" smtClean="0">
                <a:solidFill>
                  <a:schemeClr val="dk1"/>
                </a:solidFill>
                <a:latin typeface="Times New Roman" panose="02020603050405020304" pitchFamily="18" charset="0"/>
                <a:cs typeface="Times New Roman" panose="02020603050405020304" pitchFamily="18" charset="0"/>
              </a:rPr>
              <a:t> Kumar Mohan et al. conducted a study in which Random Forest and linear algorithms were used. This study showed an accuracy of about 88.7%. This proved the efficiency of machine learning algorithms in improving the accuracy of results compared to traditional algorithms.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1"/>
          <p:cNvSpPr txBox="1">
            <a:spLocks noGrp="1"/>
          </p:cNvSpPr>
          <p:nvPr>
            <p:ph type="title"/>
          </p:nvPr>
        </p:nvSpPr>
        <p:spPr>
          <a:xfrm>
            <a:off x="457200" y="26504"/>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2800"/>
              <a:buFont typeface="Times New Roman"/>
              <a:buNone/>
            </a:pPr>
            <a:r>
              <a:rPr lang="en-US" sz="2800" b="1">
                <a:latin typeface="Times New Roman"/>
                <a:ea typeface="Times New Roman"/>
                <a:cs typeface="Times New Roman"/>
                <a:sym typeface="Times New Roman"/>
              </a:rPr>
              <a:t>Implementation</a:t>
            </a:r>
            <a:endParaRPr sz="6000"/>
          </a:p>
        </p:txBody>
      </p:sp>
      <p:sp>
        <p:nvSpPr>
          <p:cNvPr id="155" name="Google Shape;155;p21"/>
          <p:cNvSpPr txBox="1">
            <a:spLocks noGrp="1"/>
          </p:cNvSpPr>
          <p:nvPr>
            <p:ph type="subTitle" idx="1"/>
          </p:nvPr>
        </p:nvSpPr>
        <p:spPr>
          <a:xfrm>
            <a:off x="308183" y="1283838"/>
            <a:ext cx="8525716" cy="4051487"/>
          </a:xfrm>
          <a:prstGeom prst="rect">
            <a:avLst/>
          </a:prstGeom>
          <a:noFill/>
          <a:ln>
            <a:noFill/>
          </a:ln>
        </p:spPr>
        <p:txBody>
          <a:bodyPr spcFirstLastPara="1" wrap="square" lIns="0" tIns="0" rIns="0" bIns="0" anchor="t" anchorCtr="0">
            <a:noAutofit/>
          </a:bodyPr>
          <a:lstStyle/>
          <a:p>
            <a:pPr marL="285750" indent="-285750" algn="just">
              <a:spcBef>
                <a:spcPts val="0"/>
              </a:spcBef>
              <a:buSzPts val="2900"/>
            </a:pPr>
            <a:r>
              <a:rPr lang="en-US" sz="1400" dirty="0">
                <a:latin typeface="Times New Roman" panose="02020603050405020304" pitchFamily="18" charset="0"/>
                <a:cs typeface="Times New Roman" panose="02020603050405020304" pitchFamily="18" charset="0"/>
              </a:rPr>
              <a:t>The implementation of the proposed system involves collecting a heart disease dataset containing various medical attributes. The dataset is then preprocessed to remove missing values and outliers. It also includes normalization to improve the performance of the system. Various feature selection and dimension reduction methods are also employed to identify the most important attributes.</a:t>
            </a:r>
          </a:p>
          <a:p>
            <a:pPr marL="285750" indent="-285750" algn="just">
              <a:spcBef>
                <a:spcPts val="0"/>
              </a:spcBef>
              <a:buSzPts val="2900"/>
            </a:pPr>
            <a:endParaRPr lang="en-US" sz="1400" dirty="0">
              <a:latin typeface="Times New Roman" panose="02020603050405020304" pitchFamily="18" charset="0"/>
              <a:cs typeface="Times New Roman" panose="02020603050405020304" pitchFamily="18" charset="0"/>
            </a:endParaRPr>
          </a:p>
          <a:p>
            <a:pPr marL="285750" indent="-285750" algn="just">
              <a:spcBef>
                <a:spcPts val="0"/>
              </a:spcBef>
              <a:buSzPts val="2900"/>
            </a:pPr>
            <a:r>
              <a:rPr lang="en-US" sz="1400" dirty="0">
                <a:latin typeface="Times New Roman" panose="02020603050405020304" pitchFamily="18" charset="0"/>
                <a:cs typeface="Times New Roman" panose="02020603050405020304" pitchFamily="18" charset="0"/>
              </a:rPr>
              <a:t>Once the dataset is preprocessed, the proposed system implements the hold-out method to divide the dataset into training and testing datasets. The dataset is divided in the ratio 80:20 for training and testing, respectively. Various machine learning algorithms such as Logistic Regression, K-Nearest Neighbors, and Random Forest are implemented and executed on the dataset. The performance of the system is measured by evaluating the accuracy, precision, recall, and F1-score. The proposed system then selects the best model, which in this case is Logistic Regression, to make predictions regarding heart disease, thus facilitating faster and accurate decisions.</a:t>
            </a:r>
            <a:endParaRPr sz="1400" dirty="0">
              <a:latin typeface="Times New Roman" panose="02020603050405020304" pitchFamily="18" charset="0"/>
              <a:ea typeface="Times New Roman"/>
              <a:cs typeface="Times New Roman" panose="02020603050405020304" pitchFamily="18" charset="0"/>
              <a:sym typeface="Times New Roman"/>
            </a:endParaRPr>
          </a:p>
          <a:p>
            <a:pPr marL="342900" marR="0" lvl="0" indent="-2413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2"/>
          <p:cNvSpPr txBox="1"/>
          <p:nvPr/>
        </p:nvSpPr>
        <p:spPr>
          <a:xfrm>
            <a:off x="0" y="161240"/>
            <a:ext cx="497666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Times New Roman"/>
                <a:ea typeface="Times New Roman"/>
                <a:cs typeface="Times New Roman"/>
                <a:sym typeface="Times New Roman"/>
              </a:rPr>
              <a:t>Results / Output</a:t>
            </a:r>
            <a:endParaRPr sz="3200">
              <a:solidFill>
                <a:schemeClr val="dk1"/>
              </a:solidFill>
              <a:latin typeface="Arial"/>
              <a:ea typeface="Arial"/>
              <a:cs typeface="Arial"/>
              <a:sym typeface="Arial"/>
            </a:endParaRPr>
          </a:p>
        </p:txBody>
      </p:sp>
      <p:sp>
        <p:nvSpPr>
          <p:cNvPr id="2" name="Rectangle 1"/>
          <p:cNvSpPr/>
          <p:nvPr/>
        </p:nvSpPr>
        <p:spPr>
          <a:xfrm>
            <a:off x="302150" y="1132983"/>
            <a:ext cx="8444286" cy="2246769"/>
          </a:xfrm>
          <a:prstGeom prst="rect">
            <a:avLst/>
          </a:prstGeom>
        </p:spPr>
        <p:txBody>
          <a:bodyPr wrap="square">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performance of implemented machine learning algorithms was measured based on performance metrics such as accuracy, precision, recall, and F1-score. Among the implemented algorithms, such as Logistic Regression, KNN, and Random Forest, Logistic Regression showed a maximum accuracy of 95%, making it a more efficient algorithm compared to others in heart disease prediction. KNN showed a relatively low accuracy compared to Logistic Regression, which proves that Logistic Regression can be more suitable for this </a:t>
            </a:r>
            <a:r>
              <a:rPr lang="en-US" dirty="0" smtClean="0">
                <a:latin typeface="Times New Roman" panose="02020603050405020304" pitchFamily="18" charset="0"/>
                <a:cs typeface="Times New Roman" panose="02020603050405020304" pitchFamily="18" charset="0"/>
              </a:rPr>
              <a:t>dataset.</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output of the system will be a prediction based on whether a patient suffers from heart disease (1) or not (0). Moreover, the output will be based on a confusion matrix, which shows whether the classification was correct or incorrect. This proves that the proposed system can accurately predict heart disease, which helps healthcare professionals take faster and more efficient decisions.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5"/>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Code Snippet</a:t>
            </a:r>
            <a:endParaRPr sz="3200" b="1">
              <a:latin typeface="Times New Roman"/>
              <a:ea typeface="Times New Roman"/>
              <a:cs typeface="Times New Roman"/>
              <a:sym typeface="Times New Roman"/>
            </a:endParaRPr>
          </a:p>
        </p:txBody>
      </p:sp>
      <p:sp>
        <p:nvSpPr>
          <p:cNvPr id="182" name="Google Shape;182;p25"/>
          <p:cNvSpPr txBox="1">
            <a:spLocks noGrp="1"/>
          </p:cNvSpPr>
          <p:nvPr>
            <p:ph type="subTitle" idx="1"/>
          </p:nvPr>
        </p:nvSpPr>
        <p:spPr>
          <a:xfrm>
            <a:off x="218661" y="1312972"/>
            <a:ext cx="8229240" cy="397728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4400"/>
              <a:buFont typeface="Arial"/>
              <a:buNone/>
            </a:pPr>
            <a:endParaRPr sz="4400" b="0" i="0" u="none" strike="noStrike" cap="none">
              <a:solidFill>
                <a:schemeClr val="dk1"/>
              </a:solidFill>
              <a:latin typeface="Arial"/>
              <a:ea typeface="Arial"/>
              <a:cs typeface="Arial"/>
              <a:sym typeface="Arial"/>
            </a:endParaRPr>
          </a:p>
        </p:txBody>
      </p:sp>
      <p:pic>
        <p:nvPicPr>
          <p:cNvPr id="2" name="Picture 1"/>
          <p:cNvPicPr>
            <a:picLocks noChangeAspect="1"/>
          </p:cNvPicPr>
          <p:nvPr/>
        </p:nvPicPr>
        <p:blipFill>
          <a:blip r:embed="rId3"/>
          <a:stretch>
            <a:fillRect/>
          </a:stretch>
        </p:blipFill>
        <p:spPr>
          <a:xfrm>
            <a:off x="-1" y="850790"/>
            <a:ext cx="9048585" cy="582035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6"/>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 Future Scope</a:t>
            </a:r>
            <a:endParaRPr sz="3200"/>
          </a:p>
        </p:txBody>
      </p:sp>
      <p:sp>
        <p:nvSpPr>
          <p:cNvPr id="189" name="Google Shape;189;p26"/>
          <p:cNvSpPr txBox="1">
            <a:spLocks noGrp="1"/>
          </p:cNvSpPr>
          <p:nvPr>
            <p:ph type="subTitle" idx="1"/>
          </p:nvPr>
        </p:nvSpPr>
        <p:spPr>
          <a:xfrm>
            <a:off x="207137" y="914040"/>
            <a:ext cx="8729726" cy="5090473"/>
          </a:xfrm>
          <a:prstGeom prst="rect">
            <a:avLst/>
          </a:prstGeom>
          <a:noFill/>
          <a:ln>
            <a:noFill/>
          </a:ln>
        </p:spPr>
        <p:txBody>
          <a:bodyPr spcFirstLastPara="1" wrap="square" lIns="0" tIns="0" rIns="0" bIns="0" anchor="t" anchorCtr="0">
            <a:noAutofit/>
          </a:bodyPr>
          <a:lstStyle/>
          <a:p>
            <a:pPr marL="228600" marR="0" lvl="0" indent="0" algn="l" rtl="0">
              <a:lnSpc>
                <a:spcPct val="90000"/>
              </a:lnSpc>
              <a:spcBef>
                <a:spcPts val="0"/>
              </a:spcBef>
              <a:spcAft>
                <a:spcPts val="0"/>
              </a:spcAft>
              <a:buNone/>
            </a:pPr>
            <a:endParaRPr sz="2100" b="0" i="0" u="none" strike="noStrike" cap="none" dirty="0">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2100"/>
              <a:buFont typeface="Times New Roman"/>
              <a:buNone/>
            </a:pPr>
            <a:endParaRPr sz="2100" b="1" dirty="0">
              <a:latin typeface="Times New Roman"/>
              <a:ea typeface="Times New Roman"/>
              <a:cs typeface="Times New Roman"/>
              <a:sym typeface="Times New Roman"/>
            </a:endParaRPr>
          </a:p>
          <a:p>
            <a:pPr lvl="0"/>
            <a:r>
              <a:rPr lang="en-IN" sz="1400" dirty="0"/>
              <a:t>Use larger and more diverse datasets to improve accuracy and generalization </a:t>
            </a:r>
            <a:endParaRPr lang="en-US" sz="1400" dirty="0"/>
          </a:p>
          <a:p>
            <a:pPr lvl="0"/>
            <a:r>
              <a:rPr lang="en-IN" sz="1400" dirty="0"/>
              <a:t>Apply advanced techniques like deep learning and neural networks </a:t>
            </a:r>
            <a:endParaRPr lang="en-US" sz="1400" dirty="0"/>
          </a:p>
          <a:p>
            <a:pPr lvl="0"/>
            <a:r>
              <a:rPr lang="en-IN" sz="1400" dirty="0"/>
              <a:t>Develop hybrid models to enhance prediction performance </a:t>
            </a:r>
            <a:endParaRPr lang="en-US" sz="1400" dirty="0"/>
          </a:p>
          <a:p>
            <a:pPr lvl="0"/>
            <a:r>
              <a:rPr lang="en-IN" sz="1400" dirty="0"/>
              <a:t>Integrate the system with real-time healthcare systems </a:t>
            </a:r>
            <a:endParaRPr lang="en-US" sz="1400" dirty="0"/>
          </a:p>
          <a:p>
            <a:pPr lvl="0"/>
            <a:r>
              <a:rPr lang="en-IN" sz="1400" dirty="0"/>
              <a:t>Connect with </a:t>
            </a:r>
            <a:r>
              <a:rPr lang="en-IN" sz="1400" dirty="0" err="1"/>
              <a:t>IoT</a:t>
            </a:r>
            <a:r>
              <a:rPr lang="en-IN" sz="1400" dirty="0"/>
              <a:t> devices and wearable health trackers </a:t>
            </a:r>
            <a:endParaRPr lang="en-US" sz="1400" dirty="0"/>
          </a:p>
          <a:p>
            <a:pPr lvl="0"/>
            <a:r>
              <a:rPr lang="en-IN" sz="1400" dirty="0"/>
              <a:t>Enable real-time monitoring and prediction of patient health </a:t>
            </a:r>
            <a:endParaRPr lang="en-US" sz="1400" dirty="0"/>
          </a:p>
          <a:p>
            <a:pPr lvl="0"/>
            <a:r>
              <a:rPr lang="en-IN" sz="1400" dirty="0"/>
              <a:t>Include more medical parameters for better analysis </a:t>
            </a:r>
            <a:endParaRPr lang="en-US" sz="1400" dirty="0"/>
          </a:p>
          <a:p>
            <a:pPr lvl="0"/>
            <a:r>
              <a:rPr lang="en-IN" sz="1400" dirty="0"/>
              <a:t>Improve model generalization and reduce overfitting </a:t>
            </a:r>
            <a:endParaRPr lang="en-US" sz="1400" dirty="0"/>
          </a:p>
          <a:p>
            <a:pPr lvl="0"/>
            <a:r>
              <a:rPr lang="en-IN" sz="1400" dirty="0"/>
              <a:t>Support better clinical decision-making and help reduce mortality rates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7"/>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3200"/>
              <a:buFont typeface="Times New Roman"/>
              <a:buNone/>
            </a:pPr>
            <a:r>
              <a:rPr lang="en-US" sz="3200" b="1" dirty="0">
                <a:latin typeface="Times New Roman"/>
                <a:ea typeface="Times New Roman"/>
                <a:cs typeface="Times New Roman"/>
                <a:sym typeface="Times New Roman"/>
              </a:rPr>
              <a:t>References</a:t>
            </a:r>
            <a:endParaRPr sz="3200" dirty="0"/>
          </a:p>
        </p:txBody>
      </p:sp>
      <p:sp>
        <p:nvSpPr>
          <p:cNvPr id="195" name="Google Shape;195;p27"/>
          <p:cNvSpPr txBox="1">
            <a:spLocks noGrp="1"/>
          </p:cNvSpPr>
          <p:nvPr>
            <p:ph type="subTitle" idx="1"/>
          </p:nvPr>
        </p:nvSpPr>
        <p:spPr>
          <a:xfrm>
            <a:off x="137015" y="1160529"/>
            <a:ext cx="8855910" cy="4954023"/>
          </a:xfrm>
          <a:prstGeom prst="rect">
            <a:avLst/>
          </a:prstGeom>
          <a:noFill/>
          <a:ln>
            <a:noFill/>
          </a:ln>
        </p:spPr>
        <p:txBody>
          <a:bodyPr spcFirstLastPara="1" wrap="square" lIns="0" tIns="0" rIns="0" bIns="0" anchor="t" anchorCtr="0">
            <a:noAutofit/>
          </a:bodyPr>
          <a:lstStyle/>
          <a:p>
            <a:pPr marL="50800" indent="0">
              <a:buNone/>
            </a:pPr>
            <a:endParaRPr lang="en-US" sz="1400" b="1" dirty="0"/>
          </a:p>
          <a:p>
            <a:r>
              <a:rPr lang="en-US" sz="1400" dirty="0" err="1">
                <a:latin typeface="Times New Roman" panose="02020603050405020304" pitchFamily="18" charset="0"/>
                <a:cs typeface="Times New Roman" panose="02020603050405020304" pitchFamily="18" charset="0"/>
              </a:rPr>
              <a:t>Purushottam</a:t>
            </a:r>
            <a:r>
              <a:rPr lang="en-US" sz="1400" dirty="0">
                <a:latin typeface="Times New Roman" panose="02020603050405020304" pitchFamily="18" charset="0"/>
                <a:cs typeface="Times New Roman" panose="02020603050405020304" pitchFamily="18" charset="0"/>
              </a:rPr>
              <a:t> Sharma et al., </a:t>
            </a:r>
            <a:r>
              <a:rPr lang="en-US" sz="1400" i="1" dirty="0">
                <a:latin typeface="Times New Roman" panose="02020603050405020304" pitchFamily="18" charset="0"/>
                <a:cs typeface="Times New Roman" panose="02020603050405020304" pitchFamily="18" charset="0"/>
              </a:rPr>
              <a:t>Efficient Heart Disease Prediction System using Decision Tree: Study of Cleveland Dataset</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Santana Krishnan J et al., </a:t>
            </a:r>
            <a:r>
              <a:rPr lang="en-US" sz="1400" i="1" dirty="0">
                <a:latin typeface="Times New Roman" panose="02020603050405020304" pitchFamily="18" charset="0"/>
                <a:cs typeface="Times New Roman" panose="02020603050405020304" pitchFamily="18" charset="0"/>
              </a:rPr>
              <a:t>Heart Disease Prediction using Decision Tree and Naive Bayes</a:t>
            </a:r>
            <a:r>
              <a:rPr lang="en-US" sz="1400" dirty="0">
                <a:latin typeface="Times New Roman" panose="02020603050405020304" pitchFamily="18" charset="0"/>
                <a:cs typeface="Times New Roman" panose="02020603050405020304" pitchFamily="18" charset="0"/>
              </a:rPr>
              <a:t>. </a:t>
            </a:r>
          </a:p>
          <a:p>
            <a:r>
              <a:rPr lang="en-US" sz="1400" dirty="0" err="1">
                <a:latin typeface="Times New Roman" panose="02020603050405020304" pitchFamily="18" charset="0"/>
                <a:cs typeface="Times New Roman" panose="02020603050405020304" pitchFamily="18" charset="0"/>
              </a:rPr>
              <a:t>Sonam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Nikhar</a:t>
            </a:r>
            <a:r>
              <a:rPr lang="en-US" sz="1400" dirty="0">
                <a:latin typeface="Times New Roman" panose="02020603050405020304" pitchFamily="18" charset="0"/>
                <a:cs typeface="Times New Roman" panose="02020603050405020304" pitchFamily="18" charset="0"/>
              </a:rPr>
              <a:t> et al., </a:t>
            </a:r>
            <a:r>
              <a:rPr lang="en-US" sz="1400" i="1" dirty="0">
                <a:latin typeface="Times New Roman" panose="02020603050405020304" pitchFamily="18" charset="0"/>
                <a:cs typeface="Times New Roman" panose="02020603050405020304" pitchFamily="18" charset="0"/>
              </a:rPr>
              <a:t>Comparative Study of Naive Bayes and Decision Tree Classifiers</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Aditi </a:t>
            </a:r>
            <a:r>
              <a:rPr lang="en-US" sz="1400" dirty="0" err="1">
                <a:latin typeface="Times New Roman" panose="02020603050405020304" pitchFamily="18" charset="0"/>
                <a:cs typeface="Times New Roman" panose="02020603050405020304" pitchFamily="18" charset="0"/>
              </a:rPr>
              <a:t>Gavhane</a:t>
            </a:r>
            <a:r>
              <a:rPr lang="en-US" sz="1400" dirty="0">
                <a:latin typeface="Times New Roman" panose="02020603050405020304" pitchFamily="18" charset="0"/>
                <a:cs typeface="Times New Roman" panose="02020603050405020304" pitchFamily="18" charset="0"/>
              </a:rPr>
              <a:t> et al., </a:t>
            </a:r>
            <a:r>
              <a:rPr lang="en-US" sz="1400" i="1" dirty="0">
                <a:latin typeface="Times New Roman" panose="02020603050405020304" pitchFamily="18" charset="0"/>
                <a:cs typeface="Times New Roman" panose="02020603050405020304" pitchFamily="18" charset="0"/>
              </a:rPr>
              <a:t>Heart Disease Prediction using Multilayer Perceptron (MLP)</a:t>
            </a:r>
            <a:r>
              <a:rPr lang="en-US" sz="1400" dirty="0">
                <a:latin typeface="Times New Roman" panose="02020603050405020304" pitchFamily="18" charset="0"/>
                <a:cs typeface="Times New Roman" panose="02020603050405020304" pitchFamily="18" charset="0"/>
              </a:rPr>
              <a:t>. </a:t>
            </a:r>
          </a:p>
          <a:p>
            <a:r>
              <a:rPr lang="en-US" sz="1400" dirty="0" err="1">
                <a:latin typeface="Times New Roman" panose="02020603050405020304" pitchFamily="18" charset="0"/>
                <a:cs typeface="Times New Roman" panose="02020603050405020304" pitchFamily="18" charset="0"/>
              </a:rPr>
              <a:t>Avinash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Golande</a:t>
            </a:r>
            <a:r>
              <a:rPr lang="en-US" sz="1400" dirty="0">
                <a:latin typeface="Times New Roman" panose="02020603050405020304" pitchFamily="18" charset="0"/>
                <a:cs typeface="Times New Roman" panose="02020603050405020304" pitchFamily="18" charset="0"/>
              </a:rPr>
              <a:t> et al., </a:t>
            </a:r>
            <a:r>
              <a:rPr lang="en-US" sz="1400" i="1" dirty="0">
                <a:latin typeface="Times New Roman" panose="02020603050405020304" pitchFamily="18" charset="0"/>
                <a:cs typeface="Times New Roman" panose="02020603050405020304" pitchFamily="18" charset="0"/>
              </a:rPr>
              <a:t>Data Mining Techniques for Heart Disease Diagnosis</a:t>
            </a:r>
            <a:r>
              <a:rPr lang="en-US" sz="1400" dirty="0">
                <a:latin typeface="Times New Roman" panose="02020603050405020304" pitchFamily="18" charset="0"/>
                <a:cs typeface="Times New Roman" panose="02020603050405020304" pitchFamily="18" charset="0"/>
              </a:rPr>
              <a:t>. </a:t>
            </a:r>
          </a:p>
          <a:p>
            <a:r>
              <a:rPr lang="en-US" sz="1400" dirty="0" err="1">
                <a:latin typeface="Times New Roman" panose="02020603050405020304" pitchFamily="18" charset="0"/>
                <a:cs typeface="Times New Roman" panose="02020603050405020304" pitchFamily="18" charset="0"/>
              </a:rPr>
              <a:t>Senthil</a:t>
            </a:r>
            <a:r>
              <a:rPr lang="en-US" sz="1400" dirty="0">
                <a:latin typeface="Times New Roman" panose="02020603050405020304" pitchFamily="18" charset="0"/>
                <a:cs typeface="Times New Roman" panose="02020603050405020304" pitchFamily="18" charset="0"/>
              </a:rPr>
              <a:t> Kumar Mohan et al., </a:t>
            </a:r>
            <a:r>
              <a:rPr lang="en-US" sz="1400" i="1" dirty="0">
                <a:latin typeface="Times New Roman" panose="02020603050405020304" pitchFamily="18" charset="0"/>
                <a:cs typeface="Times New Roman" panose="02020603050405020304" pitchFamily="18" charset="0"/>
              </a:rPr>
              <a:t>Prediction of Heart Disease using Random Forest and Linear Models</a:t>
            </a:r>
            <a:r>
              <a:rPr lang="en-US" sz="1400" dirty="0">
                <a:latin typeface="Times New Roman" panose="02020603050405020304" pitchFamily="18" charset="0"/>
                <a:cs typeface="Times New Roman" panose="02020603050405020304" pitchFamily="18" charset="0"/>
              </a:rPr>
              <a:t>. </a:t>
            </a:r>
          </a:p>
          <a:p>
            <a:r>
              <a:rPr lang="en-US" sz="1400" dirty="0" err="1">
                <a:latin typeface="Times New Roman" panose="02020603050405020304" pitchFamily="18" charset="0"/>
                <a:cs typeface="Times New Roman" panose="02020603050405020304" pitchFamily="18" charset="0"/>
              </a:rPr>
              <a:t>Anjan</a:t>
            </a:r>
            <a:r>
              <a:rPr lang="en-US" sz="1400" dirty="0">
                <a:latin typeface="Times New Roman" panose="02020603050405020304" pitchFamily="18" charset="0"/>
                <a:cs typeface="Times New Roman" panose="02020603050405020304" pitchFamily="18" charset="0"/>
              </a:rPr>
              <a:t> N </a:t>
            </a:r>
            <a:r>
              <a:rPr lang="en-US" sz="1400" dirty="0" err="1">
                <a:latin typeface="Times New Roman" panose="02020603050405020304" pitchFamily="18" charset="0"/>
                <a:cs typeface="Times New Roman" panose="02020603050405020304" pitchFamily="18" charset="0"/>
              </a:rPr>
              <a:t>Repaka</a:t>
            </a:r>
            <a:r>
              <a:rPr lang="en-US" sz="1400" dirty="0">
                <a:latin typeface="Times New Roman" panose="02020603050405020304" pitchFamily="18" charset="0"/>
                <a:cs typeface="Times New Roman" panose="02020603050405020304" pitchFamily="18" charset="0"/>
              </a:rPr>
              <a:t> et al., </a:t>
            </a:r>
            <a:r>
              <a:rPr lang="en-US" sz="1400" i="1" dirty="0">
                <a:latin typeface="Times New Roman" panose="02020603050405020304" pitchFamily="18" charset="0"/>
                <a:cs typeface="Times New Roman" panose="02020603050405020304" pitchFamily="18" charset="0"/>
              </a:rPr>
              <a:t>Machine Learning Models for Heart Disease Prediction</a:t>
            </a:r>
            <a:r>
              <a:rPr lang="en-US" sz="1400" dirty="0">
                <a:latin typeface="Times New Roman" panose="02020603050405020304" pitchFamily="18" charset="0"/>
                <a:cs typeface="Times New Roman" panose="02020603050405020304" pitchFamily="18" charset="0"/>
              </a:rPr>
              <a:t>. </a:t>
            </a:r>
          </a:p>
          <a:p>
            <a:r>
              <a:rPr lang="en-US" sz="1400" dirty="0" err="1">
                <a:latin typeface="Times New Roman" panose="02020603050405020304" pitchFamily="18" charset="0"/>
                <a:cs typeface="Times New Roman" panose="02020603050405020304" pitchFamily="18" charset="0"/>
              </a:rPr>
              <a:t>Kaggle</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Heart Disease Dataset for </a:t>
            </a:r>
            <a:r>
              <a:rPr lang="en-US" sz="1400" i="1" dirty="0" smtClean="0">
                <a:latin typeface="Times New Roman" panose="02020603050405020304" pitchFamily="18" charset="0"/>
                <a:cs typeface="Times New Roman" panose="02020603050405020304" pitchFamily="18" charset="0"/>
              </a:rPr>
              <a:t>Machine </a:t>
            </a:r>
            <a:r>
              <a:rPr lang="en-US" sz="1400" i="1" dirty="0">
                <a:latin typeface="Times New Roman" panose="02020603050405020304" pitchFamily="18" charset="0"/>
                <a:cs typeface="Times New Roman" panose="02020603050405020304" pitchFamily="18" charset="0"/>
              </a:rPr>
              <a:t>Learning</a:t>
            </a:r>
            <a:r>
              <a:rPr lang="en-US" sz="1400" dirty="0">
                <a:latin typeface="Times New Roman" panose="02020603050405020304" pitchFamily="18" charset="0"/>
                <a:cs typeface="Times New Roman" panose="02020603050405020304" pitchFamily="18" charset="0"/>
              </a:rPr>
              <a:t>.</a:t>
            </a:r>
          </a:p>
          <a:p>
            <a:pPr marL="0" marR="0" lvl="0" indent="0" algn="l" rtl="0">
              <a:lnSpc>
                <a:spcPct val="90000"/>
              </a:lnSpc>
              <a:spcBef>
                <a:spcPts val="0"/>
              </a:spcBef>
              <a:spcAft>
                <a:spcPts val="0"/>
              </a:spcAft>
              <a:buClr>
                <a:schemeClr val="dk1"/>
              </a:buClr>
              <a:buSzPts val="2400"/>
              <a:buFont typeface="Arial"/>
              <a:buNone/>
            </a:pPr>
            <a:endParaRPr sz="24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8"/>
          <p:cNvSpPr txBox="1"/>
          <p:nvPr/>
        </p:nvSpPr>
        <p:spPr>
          <a:xfrm>
            <a:off x="1297577" y="2821578"/>
            <a:ext cx="6705599" cy="141078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5400">
                <a:solidFill>
                  <a:schemeClr val="dk1"/>
                </a:solidFill>
                <a:latin typeface="Times New Roman"/>
                <a:ea typeface="Times New Roman"/>
                <a:cs typeface="Times New Roman"/>
                <a:sym typeface="Times New Roman"/>
              </a:rPr>
              <a:t>Thank You</a:t>
            </a:r>
            <a:endParaRPr sz="5400" b="0" strike="noStrike">
              <a:solidFill>
                <a:srgbClr val="000000"/>
              </a:solidFill>
              <a:latin typeface="Times New Roman"/>
              <a:ea typeface="Times New Roman"/>
              <a:cs typeface="Times New Roman"/>
              <a:sym typeface="Times New Roman"/>
            </a:endParaRPr>
          </a:p>
        </p:txBody>
      </p:sp>
      <p:sp>
        <p:nvSpPr>
          <p:cNvPr id="201" name="Google Shape;201;p28"/>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strike="noStrike">
                <a:solidFill>
                  <a:srgbClr val="000000"/>
                </a:solidFill>
                <a:latin typeface="Calibri"/>
                <a:ea typeface="Calibri"/>
                <a:cs typeface="Calibri"/>
                <a:sym typeface="Calibri"/>
              </a:rPr>
              <a:t>13</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3181</TotalTime>
  <Words>1301</Words>
  <Application>Microsoft Office PowerPoint</Application>
  <PresentationFormat>On-screen Show (4:3)</PresentationFormat>
  <Paragraphs>113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vt:lpstr>
      <vt:lpstr>PowerPoint Presentation</vt:lpstr>
      <vt:lpstr>Code Snippet</vt:lpstr>
      <vt:lpstr> 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Anirudh kaushik</dc:creator>
  <cp:lastModifiedBy>dell</cp:lastModifiedBy>
  <cp:revision>11</cp:revision>
  <dcterms:modified xsi:type="dcterms:W3CDTF">2026-05-01T14:33:49Z</dcterms:modified>
</cp:coreProperties>
</file>